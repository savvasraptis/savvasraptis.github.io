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365" r:id="rId5"/>
    <p:sldId id="1526" r:id="rId6"/>
    <p:sldId id="956" r:id="rId7"/>
    <p:sldId id="1518" r:id="rId8"/>
    <p:sldId id="1517" r:id="rId9"/>
    <p:sldId id="943" r:id="rId10"/>
    <p:sldId id="1514" r:id="rId11"/>
    <p:sldId id="1530" r:id="rId12"/>
    <p:sldId id="1529" r:id="rId13"/>
    <p:sldId id="1531" r:id="rId14"/>
    <p:sldId id="1533" r:id="rId15"/>
    <p:sldId id="1519" r:id="rId16"/>
    <p:sldId id="1532" r:id="rId17"/>
    <p:sldId id="1534" r:id="rId18"/>
    <p:sldId id="1536" r:id="rId19"/>
    <p:sldId id="1516" r:id="rId20"/>
    <p:sldId id="1540" r:id="rId21"/>
    <p:sldId id="260" r:id="rId22"/>
    <p:sldId id="1539" r:id="rId23"/>
    <p:sldId id="1535" r:id="rId24"/>
    <p:sldId id="1523" r:id="rId25"/>
    <p:sldId id="1524" r:id="rId26"/>
    <p:sldId id="1537" r:id="rId27"/>
    <p:sldId id="1527" r:id="rId28"/>
    <p:sldId id="1541" r:id="rId29"/>
    <p:sldId id="1542" r:id="rId3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3B3B"/>
    <a:srgbClr val="FF0000"/>
    <a:srgbClr val="0005FF"/>
    <a:srgbClr val="0000FF"/>
    <a:srgbClr val="7F7F7F"/>
    <a:srgbClr val="808080"/>
    <a:srgbClr val="EAEAEA"/>
    <a:srgbClr val="FFC000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 autoAdjust="0"/>
    <p:restoredTop sz="94014" autoAdjust="0"/>
  </p:normalViewPr>
  <p:slideViewPr>
    <p:cSldViewPr snapToGrid="0" snapToObjects="1">
      <p:cViewPr>
        <p:scale>
          <a:sx n="181" d="100"/>
          <a:sy n="181" d="100"/>
        </p:scale>
        <p:origin x="-1024" y="-1632"/>
      </p:cViewPr>
      <p:guideLst/>
    </p:cSldViewPr>
  </p:slideViewPr>
  <p:outlineViewPr>
    <p:cViewPr>
      <p:scale>
        <a:sx n="33" d="100"/>
        <a:sy n="33" d="100"/>
      </p:scale>
      <p:origin x="0" y="-36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 snapToObjects="1">
      <p:cViewPr varScale="1">
        <p:scale>
          <a:sx n="126" d="100"/>
          <a:sy n="126" d="100"/>
        </p:scale>
        <p:origin x="4912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91CCF-F6FD-734B-854A-5BC033593B1E}" type="datetimeFigureOut">
              <a:rPr lang="nl-NL" smtClean="0"/>
              <a:t>26-08-2025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66214-DB21-4647-B5DA-0D17CA592867}" type="datetimeFigureOut">
              <a:rPr lang="nl-NL" smtClean="0"/>
              <a:t>26-08-2025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783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5587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2504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8650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6748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7CDCB-ECF3-432A-C0BC-314BD7574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77CA3-5C93-24C6-A043-330A3520B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3C0D5-A6CA-0893-A777-8501EB37B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 mark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3B93B-78E6-CDBE-FD18-661513D40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1556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3068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099FC-1EC8-1A0E-FC8A-660F8427C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363E1-EC8B-F46D-86F7-7B83DBFB3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661ED-9438-D71B-0A8A-72859E9E6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 mark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3D2F4-3B4C-F41C-323E-6AD4F4E84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1106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29914-C0C2-E888-C9DD-6F608C4A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EF802-282B-69C4-27E3-3A82CFE86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69513-AF30-0C05-9A2D-EBD4B636A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 mark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307D4-D823-B7E0-798B-DCEF67E8D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9553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E03E6-B44D-4805-18B5-04E2E285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46694-A160-B203-FCE2-6197EAD7C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D260F-67A9-7A2B-9DAE-97C4A70F5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25397-2675-E880-5E74-3302A0E52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5385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7DD05-4265-83E3-C121-B5B52EBD4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1D83B-D184-90E3-B01F-234E0A010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D76C0-7903-BFA4-5889-E8B47C6F3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0A246-B769-0C8A-FBDC-123D50233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3735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5732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 userDrawn="1"/>
        </p:nvSpPr>
        <p:spPr>
          <a:xfrm>
            <a:off x="0" y="0"/>
            <a:ext cx="12193200" cy="5104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861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76000" y="812775"/>
            <a:ext cx="11041200" cy="5790288"/>
          </a:xfrm>
        </p:spPr>
        <p:txBody>
          <a:bodyPr/>
          <a:lstStyle>
            <a:lvl1pPr>
              <a:defRPr lang="en-US" dirty="0" smtClean="0">
                <a:solidFill>
                  <a:srgbClr val="000000"/>
                </a:solidFill>
              </a:defRPr>
            </a:lvl1pPr>
            <a:lvl2pPr>
              <a:defRPr lang="en-US" dirty="0" smtClean="0">
                <a:solidFill>
                  <a:srgbClr val="000000"/>
                </a:solidFill>
              </a:defRPr>
            </a:lvl2pPr>
            <a:lvl3pPr>
              <a:defRPr lang="en-US" dirty="0" smtClean="0">
                <a:solidFill>
                  <a:srgbClr val="000000"/>
                </a:solidFill>
              </a:defRPr>
            </a:lvl3pPr>
            <a:lvl4pPr>
              <a:defRPr lang="en-US" dirty="0" smtClean="0">
                <a:solidFill>
                  <a:srgbClr val="000000"/>
                </a:solidFill>
              </a:defRPr>
            </a:lvl4pPr>
            <a:lvl5pPr>
              <a:defRPr lang="nl-NL" dirty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75400" y="46165"/>
            <a:ext cx="11041200" cy="742924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8" name="Tijdelijke aanduiding voor datum 3"/>
          <p:cNvSpPr txBox="1">
            <a:spLocks/>
          </p:cNvSpPr>
          <p:nvPr userDrawn="1"/>
        </p:nvSpPr>
        <p:spPr>
          <a:xfrm>
            <a:off x="0" y="6628375"/>
            <a:ext cx="12192000" cy="231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00" dirty="0">
                <a:solidFill>
                  <a:srgbClr val="5F5F5F"/>
                </a:solidFill>
                <a:effectLst/>
              </a:rPr>
              <a:t>Savvas</a:t>
            </a:r>
            <a:r>
              <a:rPr lang="en-US" sz="1300" baseline="0" dirty="0">
                <a:solidFill>
                  <a:srgbClr val="5F5F5F"/>
                </a:solidFill>
                <a:effectLst/>
              </a:rPr>
              <a:t> Raptis – ML </a:t>
            </a:r>
            <a:r>
              <a:rPr lang="en-US" sz="1300" baseline="0" dirty="0" err="1">
                <a:solidFill>
                  <a:srgbClr val="5F5F5F"/>
                </a:solidFill>
                <a:effectLst/>
              </a:rPr>
              <a:t>Plasmasheet</a:t>
            </a:r>
            <a:r>
              <a:rPr lang="en-US" sz="1300" baseline="0" dirty="0">
                <a:solidFill>
                  <a:srgbClr val="5F5F5F"/>
                </a:solidFill>
                <a:effectLst/>
              </a:rPr>
              <a:t> Modeling</a:t>
            </a:r>
            <a:endParaRPr lang="nl-NL" sz="1300" dirty="0">
              <a:solidFill>
                <a:srgbClr val="5F5F5F"/>
              </a:solidFill>
              <a:effectLst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177421" y="6349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ijdelijke aanduiding voor datum 3"/>
          <p:cNvSpPr txBox="1">
            <a:spLocks/>
          </p:cNvSpPr>
          <p:nvPr userDrawn="1"/>
        </p:nvSpPr>
        <p:spPr>
          <a:xfrm>
            <a:off x="8313020" y="6628374"/>
            <a:ext cx="3840480" cy="23125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300" dirty="0">
                <a:solidFill>
                  <a:srgbClr val="5F5F5F"/>
                </a:solidFill>
              </a:rPr>
              <a:t>GEM 2024 |</a:t>
            </a:r>
            <a:r>
              <a:rPr lang="en-US" sz="1300" baseline="0" dirty="0">
                <a:solidFill>
                  <a:srgbClr val="5F5F5F"/>
                </a:solidFill>
              </a:rPr>
              <a:t> 27 Jun 24</a:t>
            </a:r>
            <a:endParaRPr lang="nl-NL" sz="1300" dirty="0">
              <a:solidFill>
                <a:srgbClr val="5F5F5F"/>
              </a:solidFill>
            </a:endParaRPr>
          </a:p>
        </p:txBody>
      </p:sp>
      <p:sp>
        <p:nvSpPr>
          <p:cNvPr id="11" name="Tijdelijke aanduiding voor datum 3"/>
          <p:cNvSpPr txBox="1">
            <a:spLocks/>
          </p:cNvSpPr>
          <p:nvPr userDrawn="1"/>
        </p:nvSpPr>
        <p:spPr>
          <a:xfrm>
            <a:off x="38500" y="6638591"/>
            <a:ext cx="3840480" cy="2108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A71291-1C34-4771-A37E-677F2182E258}" type="slidenum">
              <a:rPr lang="en-US" sz="1300" smtClean="0">
                <a:solidFill>
                  <a:srgbClr val="5F5F5F"/>
                </a:solidFill>
              </a:rPr>
              <a:pPr/>
              <a:t>‹#›</a:t>
            </a:fld>
            <a:endParaRPr lang="en-US" sz="1300" dirty="0">
              <a:solidFill>
                <a:srgbClr val="5F5F5F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6626748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oli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1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9144000" cy="157239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9144000" cy="83820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2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43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rgbClr val="000000"/>
                </a:solidFill>
                <a:latin typeface="Arial" charset="0"/>
              </a:defRPr>
            </a:lvl1pPr>
          </a:lstStyle>
          <a:p>
            <a:fld id="{07099480-D11A-4789-80EE-022E820CF635}" type="datetime1">
              <a:rPr lang="nl-BE" smtClean="0"/>
              <a:pPr/>
              <a:t>26/08/2025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lang="en-US" dirty="0" smtClean="0">
                <a:solidFill>
                  <a:srgbClr val="000000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rgbClr val="000000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rgbClr val="000000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rgbClr val="000000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rgbClr val="000000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rgbClr val="000000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rgbClr val="000000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 userDrawn="1">
          <p15:clr>
            <a:srgbClr val="F26B43"/>
          </p15:clr>
        </p15:guide>
        <p15:guide id="2" pos="7319" userDrawn="1">
          <p15:clr>
            <a:srgbClr val="F26B43"/>
          </p15:clr>
        </p15:guide>
        <p15:guide id="3" orient="horz" pos="3857" userDrawn="1">
          <p15:clr>
            <a:srgbClr val="F26B43"/>
          </p15:clr>
        </p15:guide>
        <p15:guide id="4" pos="3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avvasraptis.github.io/" TargetMode="External"/><Relationship Id="rId4" Type="http://schemas.openxmlformats.org/officeDocument/2006/relationships/hyperlink" Target="mailto:savvas.raptis@jhuapl.ed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ybinder.org/v2/gh/SavvasRaptis/machine-learning-examples/HEAD" TargetMode="External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ybinder.org/v2/gh/SavvasRaptis/machine-learning-examples/HEA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B42B9-2C4A-434B-810C-97BD7591E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931143"/>
            <a:ext cx="10734261" cy="165025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Modeling Earth’s Plasma Sheet using Machine Learning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DD875-1502-9F4F-B75E-289A7CE319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4210050"/>
            <a:ext cx="8870324" cy="13335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Savvas Raptis</a:t>
            </a:r>
            <a:r>
              <a:rPr lang="en-US" baseline="30000" dirty="0">
                <a:solidFill>
                  <a:srgbClr val="000000"/>
                </a:solidFill>
              </a:rPr>
              <a:t>1</a:t>
            </a:r>
            <a:r>
              <a:rPr lang="en-US" dirty="0">
                <a:solidFill>
                  <a:srgbClr val="000000"/>
                </a:solidFill>
              </a:rPr>
              <a:t>, Connor O’ Brien</a:t>
            </a:r>
            <a:r>
              <a:rPr lang="en-US" baseline="30000" dirty="0">
                <a:solidFill>
                  <a:srgbClr val="000000"/>
                </a:solidFill>
              </a:rPr>
              <a:t>3</a:t>
            </a:r>
            <a:r>
              <a:rPr lang="en-US" dirty="0">
                <a:solidFill>
                  <a:srgbClr val="000000"/>
                </a:solidFill>
              </a:rPr>
              <a:t>, Louis Richard</a:t>
            </a:r>
            <a:r>
              <a:rPr lang="en-US" baseline="30000" dirty="0">
                <a:solidFill>
                  <a:srgbClr val="000000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,Slava Merkin</a:t>
            </a:r>
            <a:r>
              <a:rPr lang="en-US" baseline="30000" dirty="0">
                <a:solidFill>
                  <a:srgbClr val="000000"/>
                </a:solidFill>
              </a:rPr>
              <a:t>1</a:t>
            </a:r>
            <a:r>
              <a:rPr lang="en-US" dirty="0">
                <a:solidFill>
                  <a:srgbClr val="000000"/>
                </a:solidFill>
              </a:rPr>
              <a:t>, Kareem Sorathia</a:t>
            </a:r>
            <a:r>
              <a:rPr lang="en-US" baseline="30000" dirty="0">
                <a:solidFill>
                  <a:srgbClr val="000000"/>
                </a:solidFill>
              </a:rPr>
              <a:t>1</a:t>
            </a:r>
            <a:r>
              <a:rPr lang="en-US" dirty="0">
                <a:solidFill>
                  <a:srgbClr val="000000"/>
                </a:solidFill>
              </a:rPr>
              <a:t>, Simon Wing</a:t>
            </a:r>
            <a:r>
              <a:rPr lang="en-US" baseline="30000" dirty="0">
                <a:solidFill>
                  <a:srgbClr val="000000"/>
                </a:solidFill>
              </a:rPr>
              <a:t>1</a:t>
            </a:r>
          </a:p>
          <a:p>
            <a:endParaRPr lang="en-US" baseline="30000" dirty="0">
              <a:solidFill>
                <a:srgbClr val="000000"/>
              </a:solidFill>
            </a:endParaRPr>
          </a:p>
          <a:p>
            <a:r>
              <a:rPr lang="en-US" baseline="30000" dirty="0">
                <a:solidFill>
                  <a:srgbClr val="000000"/>
                </a:solidFill>
              </a:rPr>
              <a:t>1 </a:t>
            </a:r>
            <a:r>
              <a:rPr lang="en-US" dirty="0">
                <a:solidFill>
                  <a:srgbClr val="000000"/>
                </a:solidFill>
              </a:rPr>
              <a:t>APL/JHU, Laurel, MD, US</a:t>
            </a:r>
          </a:p>
          <a:p>
            <a:r>
              <a:rPr lang="en-US" baseline="30000" dirty="0">
                <a:solidFill>
                  <a:srgbClr val="000000"/>
                </a:solidFill>
              </a:rPr>
              <a:t>2 </a:t>
            </a:r>
            <a:r>
              <a:rPr lang="en-US" dirty="0">
                <a:solidFill>
                  <a:srgbClr val="000000"/>
                </a:solidFill>
              </a:rPr>
              <a:t>Swedish Institute of Space Physics, Uppsala, Sweden</a:t>
            </a:r>
          </a:p>
          <a:p>
            <a:r>
              <a:rPr lang="en-US" baseline="30000" dirty="0">
                <a:solidFill>
                  <a:srgbClr val="000000"/>
                </a:solidFill>
              </a:rPr>
              <a:t>3 </a:t>
            </a:r>
            <a:r>
              <a:rPr lang="en-US" dirty="0">
                <a:solidFill>
                  <a:srgbClr val="000000"/>
                </a:solidFill>
              </a:rPr>
              <a:t>Center for Space Physics, Boston University, Boston, MA, USA</a:t>
            </a:r>
          </a:p>
          <a:p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916795-6BE1-F346-81AB-7DB4A7780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105" y="6172200"/>
            <a:ext cx="4090349" cy="6779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CA71CF-1C64-249F-6546-045575077414}"/>
              </a:ext>
            </a:extLst>
          </p:cNvPr>
          <p:cNvSpPr/>
          <p:nvPr/>
        </p:nvSpPr>
        <p:spPr>
          <a:xfrm>
            <a:off x="685800" y="5550097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ADF6A3-D175-9224-DF72-D7267B7D9BAB}"/>
              </a:ext>
            </a:extLst>
          </p:cNvPr>
          <p:cNvSpPr txBox="1"/>
          <p:nvPr/>
        </p:nvSpPr>
        <p:spPr>
          <a:xfrm>
            <a:off x="0" y="6326897"/>
            <a:ext cx="2492990" cy="52322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  <a:hlinkClick r:id="rId4"/>
              </a:rPr>
              <a:t>savvas.raptis@jhuapl.edu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  <a:hlinkClick r:id="rId5"/>
              </a:rPr>
              <a:t>https://savvasraptis.github.io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527A2-D5E9-909C-F32D-1E378D581FE7}"/>
              </a:ext>
            </a:extLst>
          </p:cNvPr>
          <p:cNvSpPr txBox="1"/>
          <p:nvPr/>
        </p:nvSpPr>
        <p:spPr>
          <a:xfrm>
            <a:off x="0" y="5803677"/>
            <a:ext cx="3593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Garamond" panose="02020404030301010803" pitchFamily="18" charset="0"/>
              </a:rPr>
              <a:t>Supported by John Hopkins University Applied Physics Laboratory independent R&amp;D fund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29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Earth’s plasma sheet</a:t>
            </a:r>
            <a:endParaRPr lang="sv-S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D2D9F8-D8AE-D3A7-22B2-119E89348826}"/>
              </a:ext>
            </a:extLst>
          </p:cNvPr>
          <p:cNvSpPr txBox="1"/>
          <p:nvPr/>
        </p:nvSpPr>
        <p:spPr>
          <a:xfrm>
            <a:off x="7302500" y="1730778"/>
            <a:ext cx="4749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Magnetotail reconnection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Bursty Bulk Flows (BBFs)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Global Convection</a:t>
            </a:r>
            <a:r>
              <a:rPr lang="el-GR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Ring current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r>
              <a:rPr lang="en-US" u="sng" dirty="0">
                <a:solidFill>
                  <a:srgbClr val="000000"/>
                </a:solidFill>
              </a:rPr>
              <a:t>Modeling PS is useful for: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AutoNum type="alphaLcParenBoth"/>
            </a:pPr>
            <a:r>
              <a:rPr lang="en-US" dirty="0">
                <a:solidFill>
                  <a:srgbClr val="000000"/>
                </a:solidFill>
              </a:rPr>
              <a:t>Understanding storm/substorm dynamics</a:t>
            </a:r>
          </a:p>
          <a:p>
            <a:pPr marL="342900" indent="-342900">
              <a:buAutoNum type="alphaLcParenBoth"/>
            </a:pPr>
            <a:r>
              <a:rPr lang="en-US" dirty="0">
                <a:solidFill>
                  <a:srgbClr val="000000"/>
                </a:solidFill>
              </a:rPr>
              <a:t>Explain ring current configuration</a:t>
            </a:r>
          </a:p>
          <a:p>
            <a:pPr marL="342900" indent="-342900">
              <a:buAutoNum type="alphaLcParenBoth"/>
            </a:pPr>
            <a:r>
              <a:rPr lang="en-US" dirty="0">
                <a:solidFill>
                  <a:srgbClr val="000000"/>
                </a:solidFill>
              </a:rPr>
              <a:t>Facilitate space weather modeling</a:t>
            </a:r>
          </a:p>
          <a:p>
            <a:pPr marL="342900" indent="-342900">
              <a:buAutoNum type="alphaLcParenBoth"/>
            </a:pPr>
            <a:r>
              <a:rPr lang="en-US" dirty="0">
                <a:solidFill>
                  <a:srgbClr val="000000"/>
                </a:solidFill>
              </a:rPr>
              <a:t>Understand inner magnetosphere</a:t>
            </a:r>
          </a:p>
          <a:p>
            <a:pPr marL="342900" indent="-342900">
              <a:buAutoNum type="alphaLcParenBoth"/>
            </a:pPr>
            <a:r>
              <a:rPr lang="en-US" dirty="0">
                <a:solidFill>
                  <a:srgbClr val="000000"/>
                </a:solidFill>
              </a:rPr>
              <a:t>Source for radiation belts</a:t>
            </a:r>
          </a:p>
          <a:p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030" name="Picture 6" descr="undefined">
            <a:extLst>
              <a:ext uri="{FF2B5EF4-FFF2-40B4-BE49-F238E27FC236}">
                <a16:creationId xmlns:a16="http://schemas.microsoft.com/office/drawing/2014/main" id="{1DFE1DD8-21D3-6919-CF1B-66B430D27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54008"/>
            <a:ext cx="6905014" cy="414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40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Baseline empirical models</a:t>
            </a:r>
            <a:endParaRPr lang="sv-S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86F9F-6458-4D01-C29E-38B25A4B8369}"/>
              </a:ext>
            </a:extLst>
          </p:cNvPr>
          <p:cNvSpPr txBox="1"/>
          <p:nvPr/>
        </p:nvSpPr>
        <p:spPr>
          <a:xfrm>
            <a:off x="117793" y="5902913"/>
            <a:ext cx="2283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</a:rPr>
              <a:t>Tsyganenko</a:t>
            </a:r>
            <a:r>
              <a:rPr lang="en-US" sz="1400" dirty="0">
                <a:solidFill>
                  <a:srgbClr val="000000"/>
                </a:solidFill>
              </a:rPr>
              <a:t> &amp; Mukai 2003</a:t>
            </a:r>
          </a:p>
        </p:txBody>
      </p:sp>
      <p:pic>
        <p:nvPicPr>
          <p:cNvPr id="9" name="Picture 2" descr="Details are in the caption following the image">
            <a:extLst>
              <a:ext uri="{FF2B5EF4-FFF2-40B4-BE49-F238E27FC236}">
                <a16:creationId xmlns:a16="http://schemas.microsoft.com/office/drawing/2014/main" id="{F5F58A44-E538-175A-BF64-56E80D17B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3" y="767936"/>
            <a:ext cx="5117147" cy="513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Details are in the caption following the image">
            <a:extLst>
              <a:ext uri="{FF2B5EF4-FFF2-40B4-BE49-F238E27FC236}">
                <a16:creationId xmlns:a16="http://schemas.microsoft.com/office/drawing/2014/main" id="{AAE3DD46-E942-6012-B6D2-FCECAB25E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5"/>
          <a:stretch/>
        </p:blipFill>
        <p:spPr bwMode="auto">
          <a:xfrm>
            <a:off x="5463977" y="891466"/>
            <a:ext cx="6344344" cy="322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6BECC3-35FD-858A-C643-061ED2E9E2A8}"/>
              </a:ext>
            </a:extLst>
          </p:cNvPr>
          <p:cNvSpPr txBox="1"/>
          <p:nvPr/>
        </p:nvSpPr>
        <p:spPr>
          <a:xfrm>
            <a:off x="7934221" y="3931079"/>
            <a:ext cx="3568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Dubyagin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+ 2016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B19AC5-6479-AC08-0789-88AE35D23218}"/>
              </a:ext>
            </a:extLst>
          </p:cNvPr>
          <p:cNvSpPr txBox="1"/>
          <p:nvPr/>
        </p:nvSpPr>
        <p:spPr>
          <a:xfrm>
            <a:off x="5234940" y="4287086"/>
            <a:ext cx="713308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u="sng" dirty="0">
                <a:solidFill>
                  <a:srgbClr val="000000"/>
                </a:solidFill>
              </a:rPr>
              <a:t>Why then work on this?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rgbClr val="000000"/>
                </a:solidFill>
              </a:rPr>
              <a:t>More data under different conditions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rgbClr val="000000"/>
                </a:solidFill>
              </a:rPr>
              <a:t>MMS was never used with its state of the art instrumentation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rgbClr val="000000"/>
                </a:solidFill>
              </a:rPr>
              <a:t>These models don’t include time history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rgbClr val="000000"/>
                </a:solidFill>
              </a:rPr>
              <a:t>ML methods can reveal non-linear relationships easily</a:t>
            </a:r>
          </a:p>
          <a:p>
            <a:pPr marL="342900" indent="-342900">
              <a:buFont typeface="+mj-lt"/>
              <a:buAutoNum type="arabicPeriod"/>
            </a:pPr>
            <a:endParaRPr lang="en-US" sz="1700" dirty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5A6638-9BE2-CA6C-9B80-D22A4F5B308F}"/>
              </a:ext>
            </a:extLst>
          </p:cNvPr>
          <p:cNvSpPr txBox="1"/>
          <p:nvPr/>
        </p:nvSpPr>
        <p:spPr>
          <a:xfrm>
            <a:off x="1206553" y="470946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Modelled with </a:t>
            </a:r>
            <a:r>
              <a:rPr lang="en-US" dirty="0" err="1">
                <a:solidFill>
                  <a:srgbClr val="000000"/>
                </a:solidFill>
              </a:rPr>
              <a:t>Geotail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1CA23-676F-B60B-6DE4-E258D8B8A9A2}"/>
              </a:ext>
            </a:extLst>
          </p:cNvPr>
          <p:cNvSpPr txBox="1"/>
          <p:nvPr/>
        </p:nvSpPr>
        <p:spPr>
          <a:xfrm>
            <a:off x="7606285" y="536030"/>
            <a:ext cx="2527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Modelled with THEMIS</a:t>
            </a:r>
          </a:p>
        </p:txBody>
      </p:sp>
    </p:spTree>
    <p:extLst>
      <p:ext uri="{BB962C8B-B14F-4D97-AF65-F5344CB8AC3E}">
        <p14:creationId xmlns:p14="http://schemas.microsoft.com/office/powerpoint/2010/main" val="343946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dataset (output – Central Plasma Sheet)</a:t>
            </a:r>
            <a:endParaRPr lang="sv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79BB60-A15E-699B-50E3-F091A1C61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04" y="789089"/>
            <a:ext cx="3784600" cy="553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035519-6F31-31C1-CEF2-0D42131F62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8751" r="68825" b="2762"/>
          <a:stretch/>
        </p:blipFill>
        <p:spPr>
          <a:xfrm>
            <a:off x="3833644" y="789089"/>
            <a:ext cx="3784600" cy="54438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421D76-18C1-52A0-20C6-4C4D9CA6402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6027" t="90688" r="40173" b="6827"/>
          <a:stretch/>
        </p:blipFill>
        <p:spPr>
          <a:xfrm>
            <a:off x="1511179" y="6293962"/>
            <a:ext cx="1351649" cy="2775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BDA197-5888-F3FE-A876-8817D4BF636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6027" t="90688" r="40173" b="6827"/>
          <a:stretch/>
        </p:blipFill>
        <p:spPr>
          <a:xfrm>
            <a:off x="5050119" y="6293962"/>
            <a:ext cx="1351649" cy="2775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9AE544-8638-F292-DAFF-487E7E1858FE}"/>
              </a:ext>
            </a:extLst>
          </p:cNvPr>
          <p:cNvSpPr txBox="1"/>
          <p:nvPr/>
        </p:nvSpPr>
        <p:spPr>
          <a:xfrm>
            <a:off x="7618244" y="2126528"/>
            <a:ext cx="37634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AutoNum type="alphaUcParenBoth"/>
            </a:pPr>
            <a:r>
              <a:rPr lang="en-US" b="1" dirty="0" err="1">
                <a:solidFill>
                  <a:srgbClr val="000000"/>
                </a:solidFill>
              </a:rPr>
              <a:t>Geotail</a:t>
            </a:r>
            <a:r>
              <a:rPr lang="en-US" b="1" dirty="0">
                <a:solidFill>
                  <a:srgbClr val="000000"/>
                </a:solidFill>
              </a:rPr>
              <a:t> (1994 - 2022)</a:t>
            </a:r>
            <a:r>
              <a:rPr lang="en-US" dirty="0">
                <a:solidFill>
                  <a:srgbClr val="000000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&gt;1 million points (~12s res)</a:t>
            </a:r>
          </a:p>
          <a:p>
            <a:pPr marL="285750" indent="-285750" algn="ctr">
              <a:buFont typeface="Wingdings" pitchFamily="2" charset="2"/>
              <a:buChar char="Ø"/>
            </a:pPr>
            <a:endParaRPr lang="en-US" dirty="0">
              <a:solidFill>
                <a:srgbClr val="000000"/>
              </a:solidFill>
            </a:endParaRPr>
          </a:p>
          <a:p>
            <a:pPr algn="ctr"/>
            <a:r>
              <a:rPr lang="en-US" b="1" dirty="0">
                <a:solidFill>
                  <a:srgbClr val="000000"/>
                </a:solidFill>
              </a:rPr>
              <a:t>(B) MMS (2015 – 2024) 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~ 250k points (~12s res)</a:t>
            </a:r>
          </a:p>
          <a:p>
            <a:pPr algn="ctr"/>
            <a:endParaRPr lang="en-US" dirty="0">
              <a:solidFill>
                <a:srgbClr val="000000"/>
              </a:solidFill>
            </a:endParaRPr>
          </a:p>
          <a:p>
            <a:pPr algn="ctr"/>
            <a:endParaRPr lang="en-US" dirty="0">
              <a:solidFill>
                <a:srgbClr val="000000"/>
              </a:solidFill>
            </a:endParaRPr>
          </a:p>
          <a:p>
            <a:pPr algn="ctr"/>
            <a:r>
              <a:rPr lang="en-US" u="sng" dirty="0">
                <a:solidFill>
                  <a:srgbClr val="000000"/>
                </a:solidFill>
              </a:rPr>
              <a:t>Output</a:t>
            </a:r>
            <a:r>
              <a:rPr lang="en-US" dirty="0">
                <a:solidFill>
                  <a:srgbClr val="000000"/>
                </a:solidFill>
              </a:rPr>
              <a:t>: 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Anything locally measured 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(In this example plasma moments)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21E87D-8DA1-3593-01A0-505BBDAEEDBA}"/>
              </a:ext>
            </a:extLst>
          </p:cNvPr>
          <p:cNvSpPr txBox="1"/>
          <p:nvPr/>
        </p:nvSpPr>
        <p:spPr>
          <a:xfrm>
            <a:off x="-65972" y="6408608"/>
            <a:ext cx="1441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</a:rPr>
              <a:t>Raptis+ 2024 (GRL)</a:t>
            </a:r>
          </a:p>
        </p:txBody>
      </p:sp>
    </p:spTree>
    <p:extLst>
      <p:ext uri="{BB962C8B-B14F-4D97-AF65-F5344CB8AC3E}">
        <p14:creationId xmlns:p14="http://schemas.microsoft.com/office/powerpoint/2010/main" val="3313329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Data Scientist POV </a:t>
            </a:r>
            <a:br>
              <a:rPr lang="en-US" dirty="0"/>
            </a:br>
            <a:r>
              <a:rPr lang="en-US" dirty="0"/>
              <a:t>(i.e., Input, output &amp; regression)</a:t>
            </a:r>
            <a:endParaRPr lang="sv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92DFB3-B594-D755-2AFD-885E1C0D9A16}"/>
              </a:ext>
            </a:extLst>
          </p:cNvPr>
          <p:cNvSpPr txBox="1"/>
          <p:nvPr/>
        </p:nvSpPr>
        <p:spPr>
          <a:xfrm>
            <a:off x="0" y="6354201"/>
            <a:ext cx="4089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SW Input tried: Wind (1min res) – </a:t>
            </a:r>
            <a:r>
              <a:rPr lang="en-US" sz="1200" dirty="0" err="1">
                <a:solidFill>
                  <a:srgbClr val="000000"/>
                </a:solidFill>
              </a:rPr>
              <a:t>OMNIweb</a:t>
            </a:r>
            <a:r>
              <a:rPr lang="en-US" sz="1200" dirty="0">
                <a:solidFill>
                  <a:srgbClr val="000000"/>
                </a:solidFill>
              </a:rPr>
              <a:t> (1/5 min res)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66E478-8CF1-1157-0838-EFBA822B70F4}"/>
              </a:ext>
            </a:extLst>
          </p:cNvPr>
          <p:cNvSpPr txBox="1"/>
          <p:nvPr/>
        </p:nvSpPr>
        <p:spPr>
          <a:xfrm>
            <a:off x="89910" y="5042879"/>
            <a:ext cx="5562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Input: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x: Different solar wind features (e.g., n, B, etc.) + geomagnetic indices including time history up to 6h</a:t>
            </a:r>
          </a:p>
          <a:p>
            <a:r>
              <a:rPr lang="en-US" dirty="0">
                <a:solidFill>
                  <a:srgbClr val="000000"/>
                </a:solidFill>
              </a:rPr>
              <a:t>r: Location of SC measuring output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5313-3A0B-36E1-95D9-DCDA4276124D}"/>
              </a:ext>
            </a:extLst>
          </p:cNvPr>
          <p:cNvGrpSpPr/>
          <p:nvPr/>
        </p:nvGrpSpPr>
        <p:grpSpPr>
          <a:xfrm>
            <a:off x="2005392" y="1288381"/>
            <a:ext cx="8203883" cy="3580713"/>
            <a:chOff x="211816" y="1288381"/>
            <a:chExt cx="8203883" cy="358071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CFE18A-73EB-93F1-BC42-FCCDC3556D2E}"/>
                </a:ext>
              </a:extLst>
            </p:cNvPr>
            <p:cNvSpPr/>
            <p:nvPr/>
          </p:nvSpPr>
          <p:spPr>
            <a:xfrm>
              <a:off x="211816" y="2311400"/>
              <a:ext cx="2838735" cy="25527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E436333-68E4-7CFC-29C8-5A9143A51B0B}"/>
                </a:ext>
              </a:extLst>
            </p:cNvPr>
            <p:cNvSpPr/>
            <p:nvPr/>
          </p:nvSpPr>
          <p:spPr>
            <a:xfrm>
              <a:off x="3325388" y="2316394"/>
              <a:ext cx="2076598" cy="25527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582E47B-6D01-1F10-7D74-42819D615315}"/>
                </a:ext>
              </a:extLst>
            </p:cNvPr>
            <p:cNvSpPr txBox="1"/>
            <p:nvPr/>
          </p:nvSpPr>
          <p:spPr>
            <a:xfrm>
              <a:off x="6018135" y="1288381"/>
              <a:ext cx="187423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u="sng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Plasma Sheet</a:t>
              </a:r>
            </a:p>
            <a:p>
              <a:pPr algn="ctr"/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Quantity</a:t>
              </a:r>
              <a:endPara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568B270-F75E-2585-325F-7A44BB7CC520}"/>
                </a:ext>
              </a:extLst>
            </p:cNvPr>
            <p:cNvSpPr/>
            <p:nvPr/>
          </p:nvSpPr>
          <p:spPr>
            <a:xfrm>
              <a:off x="5576964" y="2316394"/>
              <a:ext cx="2838735" cy="25527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1D41EC2-EA3A-BA73-7018-6E6071623F3B}"/>
                </a:ext>
              </a:extLst>
            </p:cNvPr>
            <p:cNvSpPr txBox="1"/>
            <p:nvPr/>
          </p:nvSpPr>
          <p:spPr>
            <a:xfrm>
              <a:off x="2950504" y="1531764"/>
              <a:ext cx="27414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u="sng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Dense Neural Network</a:t>
              </a:r>
            </a:p>
            <a:p>
              <a:pPr algn="ctr"/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Regression</a:t>
              </a:r>
              <a:endParaRPr lang="en-US" sz="2000" dirty="0">
                <a:solidFill>
                  <a:prstClr val="black"/>
                </a:solidFill>
                <a:latin typeface="Garamond Premr Pro" panose="02020402060506020403" pitchFamily="18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FD4BD8B-33A7-1B78-D105-DA547F4BC919}"/>
                </a:ext>
              </a:extLst>
            </p:cNvPr>
            <p:cNvCxnSpPr>
              <a:cxnSpLocks/>
            </p:cNvCxnSpPr>
            <p:nvPr/>
          </p:nvCxnSpPr>
          <p:spPr>
            <a:xfrm>
              <a:off x="2064490" y="3587288"/>
              <a:ext cx="1108890" cy="46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8" name="Flowchart: Connector 117">
              <a:extLst>
                <a:ext uri="{FF2B5EF4-FFF2-40B4-BE49-F238E27FC236}">
                  <a16:creationId xmlns:a16="http://schemas.microsoft.com/office/drawing/2014/main" id="{033F727B-6F99-0DC7-327E-056FD17702A0}"/>
                </a:ext>
              </a:extLst>
            </p:cNvPr>
            <p:cNvSpPr/>
            <p:nvPr/>
          </p:nvSpPr>
          <p:spPr>
            <a:xfrm>
              <a:off x="3401268" y="3333916"/>
              <a:ext cx="457200" cy="457200"/>
            </a:xfrm>
            <a:prstGeom prst="flowChartConnector">
              <a:avLst/>
            </a:prstGeom>
            <a:solidFill>
              <a:sysClr val="window" lastClr="FFFFFF">
                <a:lumMod val="7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lowchart: Connector 118">
              <a:extLst>
                <a:ext uri="{FF2B5EF4-FFF2-40B4-BE49-F238E27FC236}">
                  <a16:creationId xmlns:a16="http://schemas.microsoft.com/office/drawing/2014/main" id="{8C26D3C0-B7DB-67A0-9203-32D43AFDCBB5}"/>
                </a:ext>
              </a:extLst>
            </p:cNvPr>
            <p:cNvSpPr/>
            <p:nvPr/>
          </p:nvSpPr>
          <p:spPr>
            <a:xfrm>
              <a:off x="3401268" y="4019716"/>
              <a:ext cx="457200" cy="457200"/>
            </a:xfrm>
            <a:prstGeom prst="flowChartConnector">
              <a:avLst/>
            </a:prstGeom>
            <a:solidFill>
              <a:sysClr val="window" lastClr="FFFFFF">
                <a:lumMod val="7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lowchart: Connector 119">
              <a:extLst>
                <a:ext uri="{FF2B5EF4-FFF2-40B4-BE49-F238E27FC236}">
                  <a16:creationId xmlns:a16="http://schemas.microsoft.com/office/drawing/2014/main" id="{31997A16-6179-007E-1144-530CAC9D5744}"/>
                </a:ext>
              </a:extLst>
            </p:cNvPr>
            <p:cNvSpPr/>
            <p:nvPr/>
          </p:nvSpPr>
          <p:spPr>
            <a:xfrm>
              <a:off x="4056455" y="3591515"/>
              <a:ext cx="457200" cy="457200"/>
            </a:xfrm>
            <a:prstGeom prst="flowChartConnector">
              <a:avLst/>
            </a:prstGeom>
            <a:solidFill>
              <a:sysClr val="window" lastClr="FFFFFF">
                <a:lumMod val="7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lowchart: Connector 120">
              <a:extLst>
                <a:ext uri="{FF2B5EF4-FFF2-40B4-BE49-F238E27FC236}">
                  <a16:creationId xmlns:a16="http://schemas.microsoft.com/office/drawing/2014/main" id="{16E811A9-B548-EF70-0578-E162BFF30C75}"/>
                </a:ext>
              </a:extLst>
            </p:cNvPr>
            <p:cNvSpPr/>
            <p:nvPr/>
          </p:nvSpPr>
          <p:spPr>
            <a:xfrm>
              <a:off x="3402057" y="2654711"/>
              <a:ext cx="457200" cy="457200"/>
            </a:xfrm>
            <a:prstGeom prst="flowChartConnector">
              <a:avLst/>
            </a:prstGeom>
            <a:solidFill>
              <a:sysClr val="window" lastClr="FFFFFF">
                <a:lumMod val="7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lowchart: Connector 121">
              <a:extLst>
                <a:ext uri="{FF2B5EF4-FFF2-40B4-BE49-F238E27FC236}">
                  <a16:creationId xmlns:a16="http://schemas.microsoft.com/office/drawing/2014/main" id="{39754E31-4E66-2BC3-A37B-74E2E736C1F6}"/>
                </a:ext>
              </a:extLst>
            </p:cNvPr>
            <p:cNvSpPr/>
            <p:nvPr/>
          </p:nvSpPr>
          <p:spPr>
            <a:xfrm>
              <a:off x="4061588" y="2883311"/>
              <a:ext cx="457200" cy="457200"/>
            </a:xfrm>
            <a:prstGeom prst="flowChartConnector">
              <a:avLst/>
            </a:prstGeom>
            <a:solidFill>
              <a:sysClr val="window" lastClr="FFFFFF">
                <a:lumMod val="7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8ADA529-AD1A-667E-1FD8-CC5BAF3F279E}"/>
                    </a:ext>
                  </a:extLst>
                </p:cNvPr>
                <p:cNvSpPr txBox="1"/>
                <p:nvPr/>
              </p:nvSpPr>
              <p:spPr>
                <a:xfrm>
                  <a:off x="4706052" y="3383044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352779E-BA51-0760-A931-2F0AC3379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6052" y="3383044"/>
                  <a:ext cx="41068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E69F1C6-02EA-B911-F296-3AD758CE3BDC}"/>
                </a:ext>
              </a:extLst>
            </p:cNvPr>
            <p:cNvCxnSpPr>
              <a:stCxn id="23" idx="3"/>
            </p:cNvCxnSpPr>
            <p:nvPr/>
          </p:nvCxnSpPr>
          <p:spPr>
            <a:xfrm>
              <a:off x="5116741" y="3567710"/>
              <a:ext cx="707573" cy="182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E70FB34-EA83-B116-4E74-C0FE70141CDC}"/>
                </a:ext>
              </a:extLst>
            </p:cNvPr>
            <p:cNvCxnSpPr>
              <a:stCxn id="21" idx="6"/>
              <a:endCxn id="22" idx="2"/>
            </p:cNvCxnSpPr>
            <p:nvPr/>
          </p:nvCxnSpPr>
          <p:spPr>
            <a:xfrm>
              <a:off x="3859257" y="2883311"/>
              <a:ext cx="202331" cy="2286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FB26570-D2A2-B1F8-4BD6-BC37C98BBF8B}"/>
                </a:ext>
              </a:extLst>
            </p:cNvPr>
            <p:cNvCxnSpPr>
              <a:stCxn id="18" idx="6"/>
              <a:endCxn id="22" idx="2"/>
            </p:cNvCxnSpPr>
            <p:nvPr/>
          </p:nvCxnSpPr>
          <p:spPr>
            <a:xfrm flipV="1">
              <a:off x="3858468" y="3111911"/>
              <a:ext cx="203120" cy="450605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A9866FC-394A-4A47-41C6-86CD9E5C3D45}"/>
                </a:ext>
              </a:extLst>
            </p:cNvPr>
            <p:cNvCxnSpPr>
              <a:stCxn id="19" idx="6"/>
              <a:endCxn id="22" idx="2"/>
            </p:cNvCxnSpPr>
            <p:nvPr/>
          </p:nvCxnSpPr>
          <p:spPr>
            <a:xfrm flipV="1">
              <a:off x="3858468" y="3111911"/>
              <a:ext cx="203120" cy="1136405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41E98AA-E55F-2967-C937-6F302643EE21}"/>
                </a:ext>
              </a:extLst>
            </p:cNvPr>
            <p:cNvCxnSpPr>
              <a:stCxn id="21" idx="6"/>
              <a:endCxn id="20" idx="2"/>
            </p:cNvCxnSpPr>
            <p:nvPr/>
          </p:nvCxnSpPr>
          <p:spPr>
            <a:xfrm>
              <a:off x="3859257" y="2883311"/>
              <a:ext cx="197198" cy="93680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ED2AE8C-3573-FA6D-EDA9-F42053B90FC2}"/>
                </a:ext>
              </a:extLst>
            </p:cNvPr>
            <p:cNvCxnSpPr>
              <a:stCxn id="18" idx="6"/>
              <a:endCxn id="20" idx="2"/>
            </p:cNvCxnSpPr>
            <p:nvPr/>
          </p:nvCxnSpPr>
          <p:spPr>
            <a:xfrm>
              <a:off x="3858468" y="3562516"/>
              <a:ext cx="197987" cy="257599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F98F45-9D75-A366-4D80-31F4C8A3B78B}"/>
                </a:ext>
              </a:extLst>
            </p:cNvPr>
            <p:cNvCxnSpPr>
              <a:stCxn id="19" idx="6"/>
              <a:endCxn id="20" idx="2"/>
            </p:cNvCxnSpPr>
            <p:nvPr/>
          </p:nvCxnSpPr>
          <p:spPr>
            <a:xfrm flipV="1">
              <a:off x="3858468" y="3820115"/>
              <a:ext cx="197987" cy="42820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26C393-45AE-CE8C-973E-DCE4932B94B0}"/>
                    </a:ext>
                  </a:extLst>
                </p:cNvPr>
                <p:cNvSpPr txBox="1"/>
                <p:nvPr/>
              </p:nvSpPr>
              <p:spPr>
                <a:xfrm>
                  <a:off x="6572835" y="3384868"/>
                  <a:ext cx="764829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26C393-45AE-CE8C-973E-DCE4932B94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2835" y="3384868"/>
                  <a:ext cx="764829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49EFEED-3A83-319F-1920-0A750ABDC4F2}"/>
                    </a:ext>
                  </a:extLst>
                </p:cNvPr>
                <p:cNvSpPr txBox="1"/>
                <p:nvPr/>
              </p:nvSpPr>
              <p:spPr>
                <a:xfrm>
                  <a:off x="856551" y="2837527"/>
                  <a:ext cx="1133708" cy="145046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endParaRPr lang="en-US" sz="2000" dirty="0">
                    <a:solidFill>
                      <a:srgbClr val="00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0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+5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−3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65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oMath>
                    </m:oMathPara>
                  </a14:m>
                  <a:endParaRPr lang="en-US" sz="2000" dirty="0">
                    <a:solidFill>
                      <a:schemeClr val="tx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49EFEED-3A83-319F-1920-0A750ABDC4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551" y="2837527"/>
                  <a:ext cx="1133708" cy="1450462"/>
                </a:xfrm>
                <a:prstGeom prst="rect">
                  <a:avLst/>
                </a:prstGeom>
                <a:blipFill>
                  <a:blip r:embed="rId7"/>
                  <a:stretch>
                    <a:fillRect b="-870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1C8602A8-FBDA-ABFC-9B9F-75231E76F63B}"/>
              </a:ext>
            </a:extLst>
          </p:cNvPr>
          <p:cNvSpPr txBox="1"/>
          <p:nvPr/>
        </p:nvSpPr>
        <p:spPr>
          <a:xfrm>
            <a:off x="7617890" y="5082260"/>
            <a:ext cx="448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Output: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y: Different quantities at plasma sheet (e.g., n, B, T etc.)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2CA75D-9C37-7B58-19BA-53C38015DD60}"/>
              </a:ext>
            </a:extLst>
          </p:cNvPr>
          <p:cNvSpPr txBox="1"/>
          <p:nvPr/>
        </p:nvSpPr>
        <p:spPr>
          <a:xfrm>
            <a:off x="7617890" y="6354200"/>
            <a:ext cx="42017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Results here shown for 1min averaged quantities for output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246A0C-48BB-A073-CC35-4A430F9DDA8C}"/>
              </a:ext>
            </a:extLst>
          </p:cNvPr>
          <p:cNvSpPr txBox="1"/>
          <p:nvPr/>
        </p:nvSpPr>
        <p:spPr>
          <a:xfrm>
            <a:off x="2374148" y="1313856"/>
            <a:ext cx="20950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algn="ctr"/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 properties + Geo conditions</a:t>
            </a:r>
          </a:p>
        </p:txBody>
      </p:sp>
    </p:spTree>
    <p:extLst>
      <p:ext uri="{BB962C8B-B14F-4D97-AF65-F5344CB8AC3E}">
        <p14:creationId xmlns:p14="http://schemas.microsoft.com/office/powerpoint/2010/main" val="692773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9A8BD-4295-2203-AA70-D483BE23D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2B915B-1C28-7354-C864-6A5E47C64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14" y="-1"/>
            <a:ext cx="11196286" cy="685800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Statistical Results</a:t>
            </a:r>
          </a:p>
        </p:txBody>
      </p:sp>
      <p:pic>
        <p:nvPicPr>
          <p:cNvPr id="3" name="Picture 2" descr="50+ data science memes to fight the weekday blues | Data Science Dojo">
            <a:extLst>
              <a:ext uri="{FF2B5EF4-FFF2-40B4-BE49-F238E27FC236}">
                <a16:creationId xmlns:a16="http://schemas.microsoft.com/office/drawing/2014/main" id="{378FA8B5-D62A-BC87-98D3-3796F1A5A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16" y="1277956"/>
            <a:ext cx="3294284" cy="430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098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B5E08-852B-3C02-C63E-CB1B2A42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12"/>
            <a:ext cx="10515600" cy="90668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Modeling Density | Predictions vs Observations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D8E660-FEBD-FD99-79D1-06D59719E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434110"/>
              </p:ext>
            </p:extLst>
          </p:nvPr>
        </p:nvGraphicFramePr>
        <p:xfrm>
          <a:off x="8195052" y="2258267"/>
          <a:ext cx="3402960" cy="3085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0740">
                  <a:extLst>
                    <a:ext uri="{9D8B030D-6E8A-4147-A177-3AD203B41FA5}">
                      <a16:colId xmlns:a16="http://schemas.microsoft.com/office/drawing/2014/main" val="3722937019"/>
                    </a:ext>
                  </a:extLst>
                </a:gridCol>
                <a:gridCol w="850740">
                  <a:extLst>
                    <a:ext uri="{9D8B030D-6E8A-4147-A177-3AD203B41FA5}">
                      <a16:colId xmlns:a16="http://schemas.microsoft.com/office/drawing/2014/main" val="3080837299"/>
                    </a:ext>
                  </a:extLst>
                </a:gridCol>
                <a:gridCol w="850740">
                  <a:extLst>
                    <a:ext uri="{9D8B030D-6E8A-4147-A177-3AD203B41FA5}">
                      <a16:colId xmlns:a16="http://schemas.microsoft.com/office/drawing/2014/main" val="3074667537"/>
                    </a:ext>
                  </a:extLst>
                </a:gridCol>
                <a:gridCol w="850740">
                  <a:extLst>
                    <a:ext uri="{9D8B030D-6E8A-4147-A177-3AD203B41FA5}">
                      <a16:colId xmlns:a16="http://schemas.microsoft.com/office/drawing/2014/main" val="3684653763"/>
                    </a:ext>
                  </a:extLst>
                </a:gridCol>
              </a:tblGrid>
              <a:tr h="43518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TM03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NN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4545474"/>
                  </a:ext>
                </a:extLst>
              </a:tr>
              <a:tr h="66247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0.68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0.32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429499"/>
                  </a:ext>
                </a:extLst>
              </a:tr>
              <a:tr h="66247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0.19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0.11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0.18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3806786"/>
                  </a:ext>
                </a:extLst>
              </a:tr>
              <a:tr h="66247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0.27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0.27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918466"/>
                  </a:ext>
                </a:extLst>
              </a:tr>
              <a:tr h="66247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r (</a:t>
                      </a:r>
                      <a:r>
                        <a:rPr lang="en-US" b="1" dirty="0" err="1">
                          <a:solidFill>
                            <a:srgbClr val="000000"/>
                          </a:solidFill>
                        </a:rPr>
                        <a:t>cor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0.58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0.83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0.57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79905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F1431F4-F7F4-3FFB-826D-465B9E57A9B2}"/>
              </a:ext>
            </a:extLst>
          </p:cNvPr>
          <p:cNvSpPr txBox="1"/>
          <p:nvPr/>
        </p:nvSpPr>
        <p:spPr>
          <a:xfrm>
            <a:off x="310510" y="5834907"/>
            <a:ext cx="71176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Presented Testing of NN </a:t>
            </a:r>
            <a:r>
              <a:rPr lang="en-US" sz="1600" dirty="0">
                <a:solidFill>
                  <a:srgbClr val="000000"/>
                </a:solidFill>
                <a:sym typeface="Wingdings" pitchFamily="2" charset="2"/>
              </a:rPr>
              <a:t> Prone to data leakage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sym typeface="Wingdings" pitchFamily="2" charset="2"/>
              </a:rPr>
              <a:t>Harder test set (i.e., 5 years of out of sample test data) gives R2 ~0.3-0.4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F8B22E-A99F-1597-4DDC-F8EF1B8C0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49" y="2004493"/>
            <a:ext cx="7772400" cy="35926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7BF678-F3B7-BEC0-5EA1-A0215D575209}"/>
              </a:ext>
            </a:extLst>
          </p:cNvPr>
          <p:cNvSpPr txBox="1"/>
          <p:nvPr/>
        </p:nvSpPr>
        <p:spPr>
          <a:xfrm>
            <a:off x="7519920" y="6398726"/>
            <a:ext cx="475322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</a:rPr>
              <a:t>Disclaimer: not exactly same input of original empirical models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99C91D-1A85-CF7D-2831-C56713DB85EA}"/>
              </a:ext>
            </a:extLst>
          </p:cNvPr>
          <p:cNvCxnSpPr>
            <a:cxnSpLocks/>
          </p:cNvCxnSpPr>
          <p:nvPr/>
        </p:nvCxnSpPr>
        <p:spPr>
          <a:xfrm flipV="1">
            <a:off x="6096000" y="1125794"/>
            <a:ext cx="1454151" cy="878699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CFC9354-6A29-F3D5-658A-B2585B4BA2A1}"/>
              </a:ext>
            </a:extLst>
          </p:cNvPr>
          <p:cNvSpPr txBox="1"/>
          <p:nvPr/>
        </p:nvSpPr>
        <p:spPr>
          <a:xfrm>
            <a:off x="3803236" y="733194"/>
            <a:ext cx="84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Model maximizing correlation for input and output (replace for linear regression)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E25B6C-AC12-97FA-279F-FA3292811DCF}"/>
              </a:ext>
            </a:extLst>
          </p:cNvPr>
          <p:cNvSpPr txBox="1"/>
          <p:nvPr/>
        </p:nvSpPr>
        <p:spPr>
          <a:xfrm>
            <a:off x="9182234" y="5317034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Geotail</a:t>
            </a:r>
            <a:r>
              <a:rPr lang="en-US" dirty="0">
                <a:solidFill>
                  <a:srgbClr val="000000"/>
                </a:solidFill>
              </a:rPr>
              <a:t>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FD85E-A1B5-42DC-64C3-CAB06994AF2B}"/>
              </a:ext>
            </a:extLst>
          </p:cNvPr>
          <p:cNvSpPr txBox="1"/>
          <p:nvPr/>
        </p:nvSpPr>
        <p:spPr>
          <a:xfrm>
            <a:off x="179705" y="1125794"/>
            <a:ext cx="3976410" cy="646331"/>
          </a:xfrm>
          <a:custGeom>
            <a:avLst/>
            <a:gdLst>
              <a:gd name="connsiteX0" fmla="*/ 0 w 3976410"/>
              <a:gd name="connsiteY0" fmla="*/ 0 h 646331"/>
              <a:gd name="connsiteX1" fmla="*/ 622971 w 3976410"/>
              <a:gd name="connsiteY1" fmla="*/ 0 h 646331"/>
              <a:gd name="connsiteX2" fmla="*/ 1166414 w 3976410"/>
              <a:gd name="connsiteY2" fmla="*/ 0 h 646331"/>
              <a:gd name="connsiteX3" fmla="*/ 1908677 w 3976410"/>
              <a:gd name="connsiteY3" fmla="*/ 0 h 646331"/>
              <a:gd name="connsiteX4" fmla="*/ 2531648 w 3976410"/>
              <a:gd name="connsiteY4" fmla="*/ 0 h 646331"/>
              <a:gd name="connsiteX5" fmla="*/ 3154619 w 3976410"/>
              <a:gd name="connsiteY5" fmla="*/ 0 h 646331"/>
              <a:gd name="connsiteX6" fmla="*/ 3976410 w 3976410"/>
              <a:gd name="connsiteY6" fmla="*/ 0 h 646331"/>
              <a:gd name="connsiteX7" fmla="*/ 3976410 w 3976410"/>
              <a:gd name="connsiteY7" fmla="*/ 646331 h 646331"/>
              <a:gd name="connsiteX8" fmla="*/ 3313675 w 3976410"/>
              <a:gd name="connsiteY8" fmla="*/ 646331 h 646331"/>
              <a:gd name="connsiteX9" fmla="*/ 2770232 w 3976410"/>
              <a:gd name="connsiteY9" fmla="*/ 646331 h 646331"/>
              <a:gd name="connsiteX10" fmla="*/ 2107497 w 3976410"/>
              <a:gd name="connsiteY10" fmla="*/ 646331 h 646331"/>
              <a:gd name="connsiteX11" fmla="*/ 1444762 w 3976410"/>
              <a:gd name="connsiteY11" fmla="*/ 646331 h 646331"/>
              <a:gd name="connsiteX12" fmla="*/ 821791 w 3976410"/>
              <a:gd name="connsiteY12" fmla="*/ 646331 h 646331"/>
              <a:gd name="connsiteX13" fmla="*/ 0 w 3976410"/>
              <a:gd name="connsiteY13" fmla="*/ 646331 h 646331"/>
              <a:gd name="connsiteX14" fmla="*/ 0 w 3976410"/>
              <a:gd name="connsiteY14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76410" h="646331" extrusionOk="0">
                <a:moveTo>
                  <a:pt x="0" y="0"/>
                </a:moveTo>
                <a:cubicBezTo>
                  <a:pt x="180244" y="29479"/>
                  <a:pt x="357072" y="28102"/>
                  <a:pt x="622971" y="0"/>
                </a:cubicBezTo>
                <a:cubicBezTo>
                  <a:pt x="888870" y="-28102"/>
                  <a:pt x="913677" y="-23566"/>
                  <a:pt x="1166414" y="0"/>
                </a:cubicBezTo>
                <a:cubicBezTo>
                  <a:pt x="1419151" y="23566"/>
                  <a:pt x="1551313" y="35025"/>
                  <a:pt x="1908677" y="0"/>
                </a:cubicBezTo>
                <a:cubicBezTo>
                  <a:pt x="2266041" y="-35025"/>
                  <a:pt x="2383407" y="5860"/>
                  <a:pt x="2531648" y="0"/>
                </a:cubicBezTo>
                <a:cubicBezTo>
                  <a:pt x="2679889" y="-5860"/>
                  <a:pt x="2854234" y="4913"/>
                  <a:pt x="3154619" y="0"/>
                </a:cubicBezTo>
                <a:cubicBezTo>
                  <a:pt x="3455004" y="-4913"/>
                  <a:pt x="3642772" y="-34157"/>
                  <a:pt x="3976410" y="0"/>
                </a:cubicBezTo>
                <a:cubicBezTo>
                  <a:pt x="3993472" y="164768"/>
                  <a:pt x="3988492" y="462575"/>
                  <a:pt x="3976410" y="646331"/>
                </a:cubicBezTo>
                <a:cubicBezTo>
                  <a:pt x="3817339" y="662898"/>
                  <a:pt x="3447840" y="642488"/>
                  <a:pt x="3313675" y="646331"/>
                </a:cubicBezTo>
                <a:cubicBezTo>
                  <a:pt x="3179511" y="650174"/>
                  <a:pt x="2898682" y="637576"/>
                  <a:pt x="2770232" y="646331"/>
                </a:cubicBezTo>
                <a:cubicBezTo>
                  <a:pt x="2641782" y="655086"/>
                  <a:pt x="2301531" y="673405"/>
                  <a:pt x="2107497" y="646331"/>
                </a:cubicBezTo>
                <a:cubicBezTo>
                  <a:pt x="1913464" y="619257"/>
                  <a:pt x="1754128" y="650875"/>
                  <a:pt x="1444762" y="646331"/>
                </a:cubicBezTo>
                <a:cubicBezTo>
                  <a:pt x="1135396" y="641787"/>
                  <a:pt x="987224" y="628608"/>
                  <a:pt x="821791" y="646331"/>
                </a:cubicBezTo>
                <a:cubicBezTo>
                  <a:pt x="656358" y="664054"/>
                  <a:pt x="405194" y="626993"/>
                  <a:pt x="0" y="646331"/>
                </a:cubicBezTo>
                <a:cubicBezTo>
                  <a:pt x="-7103" y="369471"/>
                  <a:pt x="8477" y="282104"/>
                  <a:pt x="0" y="0"/>
                </a:cubicBezTo>
                <a:close/>
              </a:path>
            </a:pathLst>
          </a:custGeom>
          <a:noFill/>
          <a:ln>
            <a:solidFill>
              <a:srgbClr val="FF3B3B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B3B"/>
                </a:solidFill>
              </a:rPr>
              <a:t>Results from Last GEM</a:t>
            </a:r>
          </a:p>
          <a:p>
            <a:pPr algn="ctr"/>
            <a:r>
              <a:rPr lang="en-US" dirty="0">
                <a:solidFill>
                  <a:srgbClr val="FF3B3B"/>
                </a:solidFill>
              </a:rPr>
              <a:t>Key Message: NN &gt; Baseline&gt; TM03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77501-D40D-8C66-03AC-3BFDE29E714B}"/>
              </a:ext>
            </a:extLst>
          </p:cNvPr>
          <p:cNvSpPr txBox="1"/>
          <p:nvPr/>
        </p:nvSpPr>
        <p:spPr>
          <a:xfrm>
            <a:off x="-90888" y="6395916"/>
            <a:ext cx="56323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Raptis, O’Brien et al., 2024 (under prep.)</a:t>
            </a:r>
          </a:p>
        </p:txBody>
      </p:sp>
    </p:spTree>
    <p:extLst>
      <p:ext uri="{BB962C8B-B14F-4D97-AF65-F5344CB8AC3E}">
        <p14:creationId xmlns:p14="http://schemas.microsoft.com/office/powerpoint/2010/main" val="3234172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05ABC9-7BB3-E456-9BC5-224F5E0C6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PRIME</a:t>
            </a:r>
            <a:r>
              <a:rPr lang="en-US" dirty="0"/>
              <a:t>: GRU architecture, non-propagated Wind values tried up to several hours of history time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50D853-891A-44FE-BC68-38674948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More methodologies &amp; input space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BF11E4-F086-E3E8-9DF1-53DA98EBAA7A}"/>
              </a:ext>
            </a:extLst>
          </p:cNvPr>
          <p:cNvSpPr txBox="1"/>
          <p:nvPr/>
        </p:nvSpPr>
        <p:spPr>
          <a:xfrm>
            <a:off x="-90888" y="6395916"/>
            <a:ext cx="56323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Raptis, O’Brien et al., 2024 (under prep.)</a:t>
            </a:r>
          </a:p>
        </p:txBody>
      </p:sp>
      <p:pic>
        <p:nvPicPr>
          <p:cNvPr id="8" name="Picture 2" descr="Details are in the caption following the image">
            <a:extLst>
              <a:ext uri="{FF2B5EF4-FFF2-40B4-BE49-F238E27FC236}">
                <a16:creationId xmlns:a16="http://schemas.microsoft.com/office/drawing/2014/main" id="{3E98A860-BF18-5BF9-91A1-E0435BCE7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00" y="2082188"/>
            <a:ext cx="5780948" cy="288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9DB70F-B821-8BD3-CCD0-62E923A65603}"/>
              </a:ext>
            </a:extLst>
          </p:cNvPr>
          <p:cNvSpPr txBox="1"/>
          <p:nvPr/>
        </p:nvSpPr>
        <p:spPr>
          <a:xfrm>
            <a:off x="3200400" y="3992069"/>
            <a:ext cx="61804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O’Brien et al., 2024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1CEC6B3-029A-730F-A64D-6C7235944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084953"/>
              </p:ext>
            </p:extLst>
          </p:nvPr>
        </p:nvGraphicFramePr>
        <p:xfrm>
          <a:off x="6560654" y="2082188"/>
          <a:ext cx="5491800" cy="252076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30600">
                  <a:extLst>
                    <a:ext uri="{9D8B030D-6E8A-4147-A177-3AD203B41FA5}">
                      <a16:colId xmlns:a16="http://schemas.microsoft.com/office/drawing/2014/main" val="775655337"/>
                    </a:ext>
                  </a:extLst>
                </a:gridCol>
                <a:gridCol w="1686361">
                  <a:extLst>
                    <a:ext uri="{9D8B030D-6E8A-4147-A177-3AD203B41FA5}">
                      <a16:colId xmlns:a16="http://schemas.microsoft.com/office/drawing/2014/main" val="139717021"/>
                    </a:ext>
                  </a:extLst>
                </a:gridCol>
                <a:gridCol w="1974839">
                  <a:extLst>
                    <a:ext uri="{9D8B030D-6E8A-4147-A177-3AD203B41FA5}">
                      <a16:colId xmlns:a16="http://schemas.microsoft.com/office/drawing/2014/main" val="3603498691"/>
                    </a:ext>
                  </a:extLst>
                </a:gridCol>
              </a:tblGrid>
              <a:tr h="3861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 History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of 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Architectures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6557954"/>
                  </a:ext>
                </a:extLst>
              </a:tr>
              <a:tr h="39152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1-10h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Wind (L1)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Linear Reg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1749241"/>
                  </a:ext>
                </a:extLst>
              </a:tr>
              <a:tr h="67578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OMNIweb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Gradient Boosting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8101178"/>
                  </a:ext>
                </a:extLst>
              </a:tr>
              <a:tr h="391523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Neural Network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2663111"/>
                  </a:ext>
                </a:extLst>
              </a:tr>
              <a:tr h="67578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RNN/LSTM/GRU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(PRIME-PS)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41433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0E85C69-580F-96B7-3685-F309012E9CC2}"/>
              </a:ext>
            </a:extLst>
          </p:cNvPr>
          <p:cNvSpPr txBox="1"/>
          <p:nvPr/>
        </p:nvSpPr>
        <p:spPr>
          <a:xfrm>
            <a:off x="2089903" y="5668493"/>
            <a:ext cx="8012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>
                <a:solidFill>
                  <a:srgbClr val="000000"/>
                </a:solidFill>
              </a:rPr>
              <a:t>Key Takeaway: 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To quantify our method's impact, we tested diverse variations of the problem.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48DFF-550E-6C8A-FDF0-9957AB52A8E7}"/>
              </a:ext>
            </a:extLst>
          </p:cNvPr>
          <p:cNvSpPr txBox="1"/>
          <p:nvPr/>
        </p:nvSpPr>
        <p:spPr>
          <a:xfrm>
            <a:off x="5332165" y="4602954"/>
            <a:ext cx="6720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600" i="1" dirty="0">
                <a:solidFill>
                  <a:srgbClr val="000000"/>
                </a:solidFill>
              </a:rPr>
              <a:t>Also tried different error functions, optimizers, hyperparameters etc.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i="1" dirty="0">
                <a:solidFill>
                  <a:srgbClr val="000000"/>
                </a:solidFill>
              </a:rPr>
              <a:t>TODO some different imbalanced techniques</a:t>
            </a:r>
          </a:p>
        </p:txBody>
      </p:sp>
    </p:spTree>
    <p:extLst>
      <p:ext uri="{BB962C8B-B14F-4D97-AF65-F5344CB8AC3E}">
        <p14:creationId xmlns:p14="http://schemas.microsoft.com/office/powerpoint/2010/main" val="2276829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DA5761-DAD8-50E2-49FC-1DCD425E6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1601" r="49121" b="43374"/>
          <a:stretch>
            <a:fillRect/>
          </a:stretch>
        </p:blipFill>
        <p:spPr>
          <a:xfrm>
            <a:off x="575400" y="2294954"/>
            <a:ext cx="5538801" cy="226809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DC328B2-F4A6-1977-1C99-85BD06754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400" y="314103"/>
            <a:ext cx="11041200" cy="742924"/>
          </a:xfrm>
        </p:spPr>
        <p:txBody>
          <a:bodyPr/>
          <a:lstStyle/>
          <a:p>
            <a:r>
              <a:rPr lang="en-US" dirty="0"/>
              <a:t>Updated results (Test set, last 20% of data)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96B59-B3FC-DFA4-37A7-905A9A3D6349}"/>
              </a:ext>
            </a:extLst>
          </p:cNvPr>
          <p:cNvSpPr txBox="1"/>
          <p:nvPr/>
        </p:nvSpPr>
        <p:spPr>
          <a:xfrm>
            <a:off x="6869317" y="1434256"/>
            <a:ext cx="46547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000000"/>
                </a:solidFill>
              </a:rPr>
              <a:t>Key Results:</a:t>
            </a:r>
          </a:p>
          <a:p>
            <a:endParaRPr lang="en-US" u="sng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5FF"/>
                </a:solidFill>
              </a:rPr>
              <a:t>PRIME-PS demonstrates a performance edge </a:t>
            </a:r>
            <a:r>
              <a:rPr lang="en-US" dirty="0">
                <a:solidFill>
                  <a:srgbClr val="000000"/>
                </a:solidFill>
              </a:rPr>
              <a:t>(~30% MAE from TM03 and ~15% from other ML).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This </a:t>
            </a:r>
            <a:r>
              <a:rPr lang="en-US" dirty="0">
                <a:solidFill>
                  <a:srgbClr val="0005FF"/>
                </a:solidFill>
              </a:rPr>
              <a:t>advantage can get quite low </a:t>
            </a:r>
            <a:r>
              <a:rPr lang="en-US" dirty="0">
                <a:solidFill>
                  <a:srgbClr val="000000"/>
                </a:solidFill>
              </a:rPr>
              <a:t>(from cross-validation | not shown).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Different input, method, time-history, and hyperparameter tuning etc. had overall a </a:t>
            </a:r>
            <a:r>
              <a:rPr lang="en-US" dirty="0">
                <a:solidFill>
                  <a:srgbClr val="0005FF"/>
                </a:solidFill>
              </a:rPr>
              <a:t>statistically marginal effect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Why is this the case?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4ACC91-2A03-45BA-FB6D-1A6FD23B591C}"/>
              </a:ext>
            </a:extLst>
          </p:cNvPr>
          <p:cNvSpPr/>
          <p:nvPr/>
        </p:nvSpPr>
        <p:spPr>
          <a:xfrm>
            <a:off x="1031129" y="3891017"/>
            <a:ext cx="4949098" cy="245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CBB67B-3564-D06C-6B60-67EF5ABB75AB}"/>
              </a:ext>
            </a:extLst>
          </p:cNvPr>
          <p:cNvSpPr txBox="1"/>
          <p:nvPr/>
        </p:nvSpPr>
        <p:spPr>
          <a:xfrm>
            <a:off x="-90888" y="6395916"/>
            <a:ext cx="56323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Raptis, O’Brien et al., 2024 (under prep.)</a:t>
            </a:r>
          </a:p>
        </p:txBody>
      </p:sp>
    </p:spTree>
    <p:extLst>
      <p:ext uri="{BB962C8B-B14F-4D97-AF65-F5344CB8AC3E}">
        <p14:creationId xmlns:p14="http://schemas.microsoft.com/office/powerpoint/2010/main" val="277832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04C42B-EB32-E3E0-1930-BDC4F49C6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feature Importance Analysis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73A56B-CA53-5079-A6DF-8B6E662E9F2F}"/>
              </a:ext>
            </a:extLst>
          </p:cNvPr>
          <p:cNvGrpSpPr/>
          <p:nvPr/>
        </p:nvGrpSpPr>
        <p:grpSpPr>
          <a:xfrm>
            <a:off x="2418817" y="789089"/>
            <a:ext cx="9429741" cy="5411755"/>
            <a:chOff x="1381129" y="789089"/>
            <a:chExt cx="9429741" cy="541175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50E1F14-1745-7215-285D-D79E9BCBF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81129" y="789089"/>
              <a:ext cx="9429741" cy="5411755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43B0763-F886-1BE8-9DB7-5D4DB046EFF6}"/>
                </a:ext>
              </a:extLst>
            </p:cNvPr>
            <p:cNvSpPr/>
            <p:nvPr/>
          </p:nvSpPr>
          <p:spPr>
            <a:xfrm>
              <a:off x="1707615" y="2071172"/>
              <a:ext cx="2357609" cy="29194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C2FBB5E-A3FA-7FD7-5AE2-EF772FF137AA}"/>
              </a:ext>
            </a:extLst>
          </p:cNvPr>
          <p:cNvSpPr txBox="1"/>
          <p:nvPr/>
        </p:nvSpPr>
        <p:spPr>
          <a:xfrm>
            <a:off x="220337" y="2170324"/>
            <a:ext cx="43847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Answer: In most cases (statistically): </a:t>
            </a:r>
          </a:p>
          <a:p>
            <a:endParaRPr lang="en-US" b="1" dirty="0">
              <a:solidFill>
                <a:srgbClr val="000000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Model is predominantly driven by spacecraft location</a:t>
            </a:r>
          </a:p>
          <a:p>
            <a:pPr algn="just"/>
            <a:endParaRPr lang="en-US" dirty="0">
              <a:solidFill>
                <a:srgbClr val="0000FF"/>
              </a:solidFill>
            </a:endParaRPr>
          </a:p>
          <a:p>
            <a:pPr algn="just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Solar wind input only marginally affects performance </a:t>
            </a:r>
          </a:p>
          <a:p>
            <a:pPr algn="just"/>
            <a:endParaRPr lang="en-US" dirty="0">
              <a:solidFill>
                <a:srgbClr val="0000FF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A0E596-E645-6DE3-53D0-B2771E06BE76}"/>
              </a:ext>
            </a:extLst>
          </p:cNvPr>
          <p:cNvSpPr txBox="1"/>
          <p:nvPr/>
        </p:nvSpPr>
        <p:spPr>
          <a:xfrm>
            <a:off x="-100069" y="6299996"/>
            <a:ext cx="11217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</a:rPr>
              <a:t>SHAP Values explain why a model made a specific prediction, by showing each feature's impact.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505AF6-3788-1F1D-5550-0911E46C5FC2}"/>
              </a:ext>
            </a:extLst>
          </p:cNvPr>
          <p:cNvSpPr/>
          <p:nvPr/>
        </p:nvSpPr>
        <p:spPr>
          <a:xfrm>
            <a:off x="4308514" y="970656"/>
            <a:ext cx="1090936" cy="12126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X GSM</a:t>
            </a:r>
          </a:p>
          <a:p>
            <a:pPr algn="ctr"/>
            <a:endParaRPr lang="en-US" dirty="0">
              <a:solidFill>
                <a:srgbClr val="000000"/>
              </a:solidFill>
            </a:endParaRPr>
          </a:p>
          <a:p>
            <a:pPr algn="ctr"/>
            <a:r>
              <a:rPr lang="en-US" dirty="0">
                <a:solidFill>
                  <a:srgbClr val="000000"/>
                </a:solidFill>
              </a:rPr>
              <a:t>Y GSM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767417-89E1-8DB0-5CD7-E9DB240183D2}"/>
              </a:ext>
            </a:extLst>
          </p:cNvPr>
          <p:cNvCxnSpPr/>
          <p:nvPr/>
        </p:nvCxnSpPr>
        <p:spPr>
          <a:xfrm flipV="1">
            <a:off x="4065224" y="1872867"/>
            <a:ext cx="1443210" cy="1057620"/>
          </a:xfrm>
          <a:prstGeom prst="straightConnector1">
            <a:avLst/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64C1F6-F989-08D3-2E5A-EA5FE050CB9B}"/>
              </a:ext>
            </a:extLst>
          </p:cNvPr>
          <p:cNvCxnSpPr>
            <a:cxnSpLocks/>
          </p:cNvCxnSpPr>
          <p:nvPr/>
        </p:nvCxnSpPr>
        <p:spPr>
          <a:xfrm flipV="1">
            <a:off x="4395730" y="3701667"/>
            <a:ext cx="2038121" cy="48474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8B49D3-6021-2DCD-2F7E-25B9411B40C1}"/>
              </a:ext>
            </a:extLst>
          </p:cNvPr>
          <p:cNvCxnSpPr>
            <a:cxnSpLocks/>
          </p:cNvCxnSpPr>
          <p:nvPr/>
        </p:nvCxnSpPr>
        <p:spPr>
          <a:xfrm flipV="1">
            <a:off x="8177820" y="572877"/>
            <a:ext cx="657708" cy="95913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BADDB37-7538-DA3F-95CA-3C2AD03050F8}"/>
              </a:ext>
            </a:extLst>
          </p:cNvPr>
          <p:cNvSpPr txBox="1"/>
          <p:nvPr/>
        </p:nvSpPr>
        <p:spPr>
          <a:xfrm>
            <a:off x="7943161" y="203545"/>
            <a:ext cx="4314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</a:rPr>
              <a:t>More density close to earth and at dawn</a:t>
            </a:r>
          </a:p>
        </p:txBody>
      </p:sp>
    </p:spTree>
    <p:extLst>
      <p:ext uri="{BB962C8B-B14F-4D97-AF65-F5344CB8AC3E}">
        <p14:creationId xmlns:p14="http://schemas.microsoft.com/office/powerpoint/2010/main" val="21353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833CE-59FF-ADEB-0B3D-5A6DBDBBA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A32CA9-05C9-737E-207C-6A058DFDC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14" y="-1"/>
            <a:ext cx="11196286" cy="685800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Modeling Efforts</a:t>
            </a:r>
          </a:p>
        </p:txBody>
      </p:sp>
    </p:spTree>
    <p:extLst>
      <p:ext uri="{BB962C8B-B14F-4D97-AF65-F5344CB8AC3E}">
        <p14:creationId xmlns:p14="http://schemas.microsoft.com/office/powerpoint/2010/main" val="1093750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B5E08-852B-3C02-C63E-CB1B2A42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12"/>
            <a:ext cx="10515600" cy="90668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Modeling Density | 2D Maps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5A284D-F49C-E656-BF29-3760F4E97C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798"/>
          <a:stretch/>
        </p:blipFill>
        <p:spPr>
          <a:xfrm>
            <a:off x="189931" y="1366301"/>
            <a:ext cx="2580565" cy="4698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542659-FD99-3C69-0105-3EE37AE4E1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930"/>
          <a:stretch/>
        </p:blipFill>
        <p:spPr>
          <a:xfrm>
            <a:off x="2770496" y="1366300"/>
            <a:ext cx="2803478" cy="46986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1782E4-326C-D4E5-11ED-D2C0DF81B3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930"/>
          <a:stretch/>
        </p:blipFill>
        <p:spPr>
          <a:xfrm>
            <a:off x="5910363" y="1366300"/>
            <a:ext cx="2803478" cy="46986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4A7FF1C-CD0E-76DE-B093-1A201F6A92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930"/>
          <a:stretch/>
        </p:blipFill>
        <p:spPr>
          <a:xfrm>
            <a:off x="8713841" y="1366300"/>
            <a:ext cx="2803478" cy="469860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67C9F80-3CCC-9808-4DF5-38CD95B6C055}"/>
              </a:ext>
            </a:extLst>
          </p:cNvPr>
          <p:cNvSpPr txBox="1"/>
          <p:nvPr/>
        </p:nvSpPr>
        <p:spPr>
          <a:xfrm>
            <a:off x="1293168" y="607117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Neural Networks modeling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F3A2D4-3467-B166-EFA2-8B473898254D}"/>
              </a:ext>
            </a:extLst>
          </p:cNvPr>
          <p:cNvSpPr txBox="1"/>
          <p:nvPr/>
        </p:nvSpPr>
        <p:spPr>
          <a:xfrm>
            <a:off x="7191629" y="6132224"/>
            <a:ext cx="304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Empirical modeling (TM03)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6AD995-193A-6045-BB51-0C674E59A247}"/>
              </a:ext>
            </a:extLst>
          </p:cNvPr>
          <p:cNvSpPr txBox="1"/>
          <p:nvPr/>
        </p:nvSpPr>
        <p:spPr>
          <a:xfrm rot="16200000">
            <a:off x="11302196" y="2343954"/>
            <a:ext cx="707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N [1/cc]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8F8A2-19B3-3F5F-BEF4-3B20303359AA}"/>
              </a:ext>
            </a:extLst>
          </p:cNvPr>
          <p:cNvSpPr txBox="1"/>
          <p:nvPr/>
        </p:nvSpPr>
        <p:spPr>
          <a:xfrm rot="16200000">
            <a:off x="11302196" y="4608490"/>
            <a:ext cx="707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N [1/cc]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3F1C92-0ED7-80E6-982D-C097EB49AC08}"/>
              </a:ext>
            </a:extLst>
          </p:cNvPr>
          <p:cNvSpPr txBox="1"/>
          <p:nvPr/>
        </p:nvSpPr>
        <p:spPr>
          <a:xfrm>
            <a:off x="-90888" y="6395916"/>
            <a:ext cx="56323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Raptis, O’Brien et al., 2024 (under prep.)</a:t>
            </a:r>
          </a:p>
          <a:p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F775A-1C3F-773E-06FA-8DCCDAEAF91D}"/>
              </a:ext>
            </a:extLst>
          </p:cNvPr>
          <p:cNvSpPr txBox="1"/>
          <p:nvPr/>
        </p:nvSpPr>
        <p:spPr>
          <a:xfrm>
            <a:off x="4531927" y="1000421"/>
            <a:ext cx="265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rgbClr val="000000"/>
                </a:solidFill>
              </a:rPr>
              <a:t>Asymmetries introduced</a:t>
            </a:r>
          </a:p>
        </p:txBody>
      </p:sp>
    </p:spTree>
    <p:extLst>
      <p:ext uri="{BB962C8B-B14F-4D97-AF65-F5344CB8AC3E}">
        <p14:creationId xmlns:p14="http://schemas.microsoft.com/office/powerpoint/2010/main" val="4091060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B5E08-852B-3C02-C63E-CB1B2A42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12"/>
            <a:ext cx="10515600" cy="64633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Modeling Temperature Ratios with MMS | 2D Maps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33625A7-4FA3-CE44-07C3-A06560E1A629}"/>
              </a:ext>
            </a:extLst>
          </p:cNvPr>
          <p:cNvGrpSpPr/>
          <p:nvPr/>
        </p:nvGrpSpPr>
        <p:grpSpPr>
          <a:xfrm>
            <a:off x="7123590" y="1418585"/>
            <a:ext cx="3993774" cy="4931752"/>
            <a:chOff x="0" y="1637032"/>
            <a:chExt cx="3993774" cy="493175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D8961AA-E23E-4EE0-AB5C-FEB514B3A8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9979"/>
            <a:stretch/>
          </p:blipFill>
          <p:spPr>
            <a:xfrm>
              <a:off x="0" y="1637032"/>
              <a:ext cx="1968678" cy="493175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469A591-2B62-18E3-A119-E7CFB5C092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1525"/>
            <a:stretch/>
          </p:blipFill>
          <p:spPr>
            <a:xfrm>
              <a:off x="2101152" y="1637032"/>
              <a:ext cx="1892622" cy="4931752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2FC6849-2A75-C26B-2E72-77676DD5EC46}"/>
              </a:ext>
            </a:extLst>
          </p:cNvPr>
          <p:cNvSpPr txBox="1"/>
          <p:nvPr/>
        </p:nvSpPr>
        <p:spPr>
          <a:xfrm>
            <a:off x="914206" y="6242616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Neural Networks modeling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2653AA-FF62-4768-1BA5-C3C5BFB0B593}"/>
              </a:ext>
            </a:extLst>
          </p:cNvPr>
          <p:cNvSpPr txBox="1"/>
          <p:nvPr/>
        </p:nvSpPr>
        <p:spPr>
          <a:xfrm>
            <a:off x="7502681" y="6294193"/>
            <a:ext cx="39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Empirical modeling (TM03/DSGR16)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116B67-1E43-C061-3C77-3017EC97A82F}"/>
              </a:ext>
            </a:extLst>
          </p:cNvPr>
          <p:cNvSpPr txBox="1"/>
          <p:nvPr/>
        </p:nvSpPr>
        <p:spPr>
          <a:xfrm>
            <a:off x="4392556" y="3429000"/>
            <a:ext cx="26757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+No extreme values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</a:rPr>
              <a:t>+Asymmetries are shown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</a:rPr>
              <a:t>+ Coherent physical picture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AC53894-FD30-1DD5-DD9A-BC4B86A54ECE}"/>
              </a:ext>
            </a:extLst>
          </p:cNvPr>
          <p:cNvSpPr/>
          <p:nvPr/>
        </p:nvSpPr>
        <p:spPr>
          <a:xfrm>
            <a:off x="715171" y="5481326"/>
            <a:ext cx="587189" cy="5160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471AF47-4D24-A1FA-4553-C6B04B370221}"/>
              </a:ext>
            </a:extLst>
          </p:cNvPr>
          <p:cNvSpPr/>
          <p:nvPr/>
        </p:nvSpPr>
        <p:spPr>
          <a:xfrm>
            <a:off x="7502681" y="1652899"/>
            <a:ext cx="587189" cy="5160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F4DE685-61F4-8C1F-DC81-2A7535F94678}"/>
              </a:ext>
            </a:extLst>
          </p:cNvPr>
          <p:cNvSpPr/>
          <p:nvPr/>
        </p:nvSpPr>
        <p:spPr>
          <a:xfrm>
            <a:off x="715172" y="1566881"/>
            <a:ext cx="587189" cy="5160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B749F05-F7CA-F4AC-5308-3D9671AC1A14}"/>
              </a:ext>
            </a:extLst>
          </p:cNvPr>
          <p:cNvSpPr/>
          <p:nvPr/>
        </p:nvSpPr>
        <p:spPr>
          <a:xfrm>
            <a:off x="7520740" y="5577231"/>
            <a:ext cx="587189" cy="5160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3A55CCC-36E2-5F83-25A5-3AD1966D87BE}"/>
              </a:ext>
            </a:extLst>
          </p:cNvPr>
          <p:cNvGrpSpPr/>
          <p:nvPr/>
        </p:nvGrpSpPr>
        <p:grpSpPr>
          <a:xfrm>
            <a:off x="318022" y="1366735"/>
            <a:ext cx="3978322" cy="4992366"/>
            <a:chOff x="318022" y="1376674"/>
            <a:chExt cx="3978322" cy="499236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3F7B7A2-FD43-9BD2-1539-200567DAAE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0268"/>
            <a:stretch/>
          </p:blipFill>
          <p:spPr>
            <a:xfrm>
              <a:off x="318022" y="1376674"/>
              <a:ext cx="1968678" cy="495061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A4015ABB-4963-BD1C-235A-F97816C3EC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1070"/>
            <a:stretch/>
          </p:blipFill>
          <p:spPr>
            <a:xfrm>
              <a:off x="2360202" y="1399882"/>
              <a:ext cx="1936142" cy="4969158"/>
            </a:xfrm>
            <a:prstGeom prst="rect">
              <a:avLst/>
            </a:prstGeom>
          </p:spPr>
        </p:pic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1A4E8AC2-17D6-910D-E3F3-1A6513422D84}"/>
              </a:ext>
            </a:extLst>
          </p:cNvPr>
          <p:cNvSpPr/>
          <p:nvPr/>
        </p:nvSpPr>
        <p:spPr>
          <a:xfrm>
            <a:off x="697112" y="1615236"/>
            <a:ext cx="587189" cy="5160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7F4866E-0EA1-0FE5-2C1A-6015583D42FA}"/>
              </a:ext>
            </a:extLst>
          </p:cNvPr>
          <p:cNvSpPr/>
          <p:nvPr/>
        </p:nvSpPr>
        <p:spPr>
          <a:xfrm>
            <a:off x="715171" y="5539568"/>
            <a:ext cx="587189" cy="5160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89DC3B-746A-96E8-1B39-BFA58374E252}"/>
              </a:ext>
            </a:extLst>
          </p:cNvPr>
          <p:cNvSpPr txBox="1"/>
          <p:nvPr/>
        </p:nvSpPr>
        <p:spPr>
          <a:xfrm>
            <a:off x="2286700" y="861156"/>
            <a:ext cx="757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Reproducing</a:t>
            </a:r>
            <a:r>
              <a:rPr lang="en-US" dirty="0">
                <a:solidFill>
                  <a:srgbClr val="000000"/>
                </a:solidFill>
              </a:rPr>
              <a:t>: Wang et al., 2009 with dusk Ti/</a:t>
            </a:r>
            <a:r>
              <a:rPr lang="en-US" dirty="0" err="1">
                <a:solidFill>
                  <a:srgbClr val="000000"/>
                </a:solidFill>
              </a:rPr>
              <a:t>Te</a:t>
            </a:r>
            <a:r>
              <a:rPr lang="en-US" dirty="0">
                <a:solidFill>
                  <a:srgbClr val="000000"/>
                </a:solidFill>
              </a:rPr>
              <a:t> much higher than dawn</a:t>
            </a:r>
          </a:p>
        </p:txBody>
      </p:sp>
    </p:spTree>
    <p:extLst>
      <p:ext uri="{BB962C8B-B14F-4D97-AF65-F5344CB8AC3E}">
        <p14:creationId xmlns:p14="http://schemas.microsoft.com/office/powerpoint/2010/main" val="2240763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CB601-6798-EE56-D0E8-0D6DD0A1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E7B179-A851-FF66-7E29-9EAC7FAA2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14" y="-1"/>
            <a:ext cx="11196286" cy="685800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Storm Time Behavior and Importance of Outliers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51C705-4171-6A7C-D481-2664D69B7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965" y="128077"/>
            <a:ext cx="6196070" cy="277926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22C180A-B619-5FA6-7CE7-B3B42D255937}"/>
              </a:ext>
            </a:extLst>
          </p:cNvPr>
          <p:cNvSpPr/>
          <p:nvPr/>
        </p:nvSpPr>
        <p:spPr>
          <a:xfrm>
            <a:off x="6832315" y="-1"/>
            <a:ext cx="1366463" cy="211647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6D4D5-D980-1F93-EF36-26919B705206}"/>
              </a:ext>
            </a:extLst>
          </p:cNvPr>
          <p:cNvSpPr txBox="1"/>
          <p:nvPr/>
        </p:nvSpPr>
        <p:spPr>
          <a:xfrm>
            <a:off x="791110" y="4438436"/>
            <a:ext cx="111962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The Problem: </a:t>
            </a:r>
            <a:r>
              <a:rPr lang="en-US" dirty="0">
                <a:solidFill>
                  <a:srgbClr val="000000"/>
                </a:solidFill>
              </a:rPr>
              <a:t>We use </a:t>
            </a:r>
            <a:r>
              <a:rPr lang="en-US" dirty="0">
                <a:solidFill>
                  <a:srgbClr val="0005FF"/>
                </a:solidFill>
              </a:rPr>
              <a:t>static thresholds for dynamic </a:t>
            </a:r>
            <a:r>
              <a:rPr lang="en-US" dirty="0" err="1">
                <a:solidFill>
                  <a:srgbClr val="0005FF"/>
                </a:solidFill>
              </a:rPr>
              <a:t>environents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1" dirty="0">
                <a:solidFill>
                  <a:srgbClr val="000000"/>
                </a:solidFill>
              </a:rPr>
              <a:t>The Risk: </a:t>
            </a:r>
            <a:r>
              <a:rPr lang="en-US" dirty="0">
                <a:solidFill>
                  <a:srgbClr val="000000"/>
                </a:solidFill>
              </a:rPr>
              <a:t>Therefore we can </a:t>
            </a:r>
            <a:r>
              <a:rPr lang="en-US" dirty="0">
                <a:solidFill>
                  <a:srgbClr val="0005FF"/>
                </a:solidFill>
              </a:rPr>
              <a:t>mistakenly remove the crucial "stormtime </a:t>
            </a:r>
            <a:r>
              <a:rPr lang="en-US" dirty="0" err="1">
                <a:solidFill>
                  <a:srgbClr val="0005FF"/>
                </a:solidFill>
              </a:rPr>
              <a:t>plasmasheet</a:t>
            </a:r>
            <a:r>
              <a:rPr lang="en-US" dirty="0">
                <a:solidFill>
                  <a:srgbClr val="0005FF"/>
                </a:solidFill>
              </a:rPr>
              <a:t>.”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1" dirty="0">
                <a:solidFill>
                  <a:srgbClr val="000000"/>
                </a:solidFill>
              </a:rPr>
              <a:t>The "Solution": </a:t>
            </a:r>
            <a:r>
              <a:rPr lang="en-US" dirty="0">
                <a:solidFill>
                  <a:srgbClr val="FF3B3B"/>
                </a:solidFill>
              </a:rPr>
              <a:t>Manually find the missing data and add it to the dataset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i="1" dirty="0">
                <a:solidFill>
                  <a:srgbClr val="000000"/>
                </a:solidFill>
              </a:rPr>
              <a:t>Strict CPS (e.g., Ohtani et al., 2008 Raptis et al., 2024) &amp; Flexible CPS (e.g., Richard et al., 2022)</a:t>
            </a:r>
          </a:p>
        </p:txBody>
      </p:sp>
    </p:spTree>
    <p:extLst>
      <p:ext uri="{BB962C8B-B14F-4D97-AF65-F5344CB8AC3E}">
        <p14:creationId xmlns:p14="http://schemas.microsoft.com/office/powerpoint/2010/main" val="365895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E57F9-E871-49C9-09C3-2E1620E16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646FC4-9625-D73F-2135-D822D3C5B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Test case of a storm (05 Nov 2023)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3B4FF-7976-E21D-A330-22B4A05E14DF}"/>
              </a:ext>
            </a:extLst>
          </p:cNvPr>
          <p:cNvSpPr txBox="1"/>
          <p:nvPr/>
        </p:nvSpPr>
        <p:spPr>
          <a:xfrm>
            <a:off x="7897502" y="5731929"/>
            <a:ext cx="2896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>
                <a:solidFill>
                  <a:srgbClr val="000000"/>
                </a:solidFill>
              </a:rPr>
              <a:t>MAE (&gt;40% improvement)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ML model: 0.7 [1/cc]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TM03: 1.22 [1/cc]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A633F9-9A8C-8D51-E9D3-327232158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11" y="701150"/>
            <a:ext cx="5500687" cy="5029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A3093B-7DC4-9D76-A872-BBEC7C5CA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503" y="701150"/>
            <a:ext cx="5516724" cy="5029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D2CCBE-0BB9-5DC2-7A0F-6545557B7076}"/>
              </a:ext>
            </a:extLst>
          </p:cNvPr>
          <p:cNvSpPr txBox="1"/>
          <p:nvPr/>
        </p:nvSpPr>
        <p:spPr>
          <a:xfrm>
            <a:off x="0" y="6347482"/>
            <a:ext cx="6235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</a:rPr>
              <a:t>Note</a:t>
            </a:r>
            <a:r>
              <a:rPr lang="en-US" sz="1400" dirty="0">
                <a:solidFill>
                  <a:srgbClr val="000000"/>
                </a:solidFill>
              </a:rPr>
              <a:t>: values &lt;1 cm⁻³, are transitions to the lobe/BL (will filter them out).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FFA7FC-83ED-9BF8-4E29-7E98677DA5A4}"/>
              </a:ext>
            </a:extLst>
          </p:cNvPr>
          <p:cNvCxnSpPr/>
          <p:nvPr/>
        </p:nvCxnSpPr>
        <p:spPr>
          <a:xfrm flipV="1">
            <a:off x="2049137" y="4373696"/>
            <a:ext cx="1410159" cy="18508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103114-0A4D-8EDA-6458-0B3D7A195C68}"/>
              </a:ext>
            </a:extLst>
          </p:cNvPr>
          <p:cNvCxnSpPr/>
          <p:nvPr/>
        </p:nvCxnSpPr>
        <p:spPr>
          <a:xfrm flipV="1">
            <a:off x="2776249" y="4435172"/>
            <a:ext cx="1410159" cy="18508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E8FDD5-C8C3-CCEF-9ACF-28EEC186F777}"/>
              </a:ext>
            </a:extLst>
          </p:cNvPr>
          <p:cNvCxnSpPr/>
          <p:nvPr/>
        </p:nvCxnSpPr>
        <p:spPr>
          <a:xfrm flipV="1">
            <a:off x="3536410" y="4496648"/>
            <a:ext cx="1410159" cy="18508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49CFEA1-A6FE-2294-C549-4C0DB6D21A6A}"/>
              </a:ext>
            </a:extLst>
          </p:cNvPr>
          <p:cNvSpPr/>
          <p:nvPr/>
        </p:nvSpPr>
        <p:spPr>
          <a:xfrm>
            <a:off x="7667740" y="3018622"/>
            <a:ext cx="627961" cy="7821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53ED0F-2B1D-E275-5B1F-A8FB71FC0EC7}"/>
              </a:ext>
            </a:extLst>
          </p:cNvPr>
          <p:cNvSpPr/>
          <p:nvPr/>
        </p:nvSpPr>
        <p:spPr>
          <a:xfrm>
            <a:off x="9056706" y="2477522"/>
            <a:ext cx="627961" cy="7821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72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B5E08-852B-3C02-C63E-CB1B2A42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12"/>
            <a:ext cx="10515600" cy="90668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Summary &amp; Discussion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279402-03FC-61B9-A59A-FF2E4313465C}"/>
              </a:ext>
            </a:extLst>
          </p:cNvPr>
          <p:cNvSpPr txBox="1"/>
          <p:nvPr/>
        </p:nvSpPr>
        <p:spPr>
          <a:xfrm>
            <a:off x="696036" y="990701"/>
            <a:ext cx="1065776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000000"/>
                </a:solidFill>
              </a:rPr>
              <a:t>Results</a:t>
            </a:r>
          </a:p>
          <a:p>
            <a:endParaRPr lang="en-US" sz="2000" b="1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✅ </a:t>
            </a:r>
            <a:r>
              <a:rPr lang="en-US" sz="2000" b="1" dirty="0">
                <a:solidFill>
                  <a:srgbClr val="000000"/>
                </a:solidFill>
              </a:rPr>
              <a:t>Marginal Gains:</a:t>
            </a:r>
            <a:r>
              <a:rPr lang="en-US" sz="2000" dirty="0">
                <a:solidFill>
                  <a:srgbClr val="000000"/>
                </a:solidFill>
              </a:rPr>
              <a:t> ML models overall outperform analytical methods and show hidden asymmetries.</a:t>
            </a:r>
          </a:p>
          <a:p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❌ </a:t>
            </a:r>
            <a:r>
              <a:rPr lang="en-US" sz="2000" b="1" dirty="0">
                <a:solidFill>
                  <a:srgbClr val="000000"/>
                </a:solidFill>
              </a:rPr>
              <a:t>Mediocre Predictability:</a:t>
            </a:r>
            <a:r>
              <a:rPr lang="en-US" sz="2000" dirty="0">
                <a:solidFill>
                  <a:srgbClr val="000000"/>
                </a:solidFill>
              </a:rPr>
              <a:t> We only capture "boring" conditions, not the critical rare events.</a:t>
            </a:r>
          </a:p>
          <a:p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🧠 </a:t>
            </a:r>
            <a:r>
              <a:rPr lang="en-US" sz="2000" b="1" dirty="0">
                <a:solidFill>
                  <a:srgbClr val="000000"/>
                </a:solidFill>
              </a:rPr>
              <a:t>Core Problem:</a:t>
            </a:r>
            <a:r>
              <a:rPr lang="en-US" sz="2000" dirty="0">
                <a:solidFill>
                  <a:srgbClr val="000000"/>
                </a:solidFill>
              </a:rPr>
              <a:t> Our training data is biased. Extreme events, which are not captured by simple thresholds, must be included, but even then, they are very rare...</a:t>
            </a:r>
          </a:p>
          <a:p>
            <a:endParaRPr lang="en-US" sz="2000" dirty="0">
              <a:solidFill>
                <a:srgbClr val="000000"/>
              </a:solidFill>
            </a:endParaRPr>
          </a:p>
          <a:p>
            <a:pPr algn="ctr"/>
            <a:r>
              <a:rPr lang="en-US" sz="2000" b="1" u="sng" dirty="0">
                <a:solidFill>
                  <a:srgbClr val="000000"/>
                </a:solidFill>
              </a:rPr>
              <a:t>Future Work</a:t>
            </a:r>
          </a:p>
          <a:p>
            <a:endParaRPr lang="en-US" sz="2000" b="1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Understand the output:</a:t>
            </a:r>
            <a:r>
              <a:rPr lang="en-US" sz="2000" dirty="0">
                <a:solidFill>
                  <a:srgbClr val="000000"/>
                </a:solidFill>
              </a:rPr>
              <a:t> How can we use these output to understand more about the physical processes? </a:t>
            </a:r>
          </a:p>
          <a:p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Simulations to the Rescue (?):</a:t>
            </a:r>
            <a:r>
              <a:rPr lang="en-US" sz="2000" dirty="0">
                <a:solidFill>
                  <a:srgbClr val="000000"/>
                </a:solidFill>
              </a:rPr>
              <a:t> Try use simulations to generate extreme event data that </a:t>
            </a:r>
            <a:r>
              <a:rPr lang="en-US" sz="2000" i="1" dirty="0">
                <a:solidFill>
                  <a:srgbClr val="000000"/>
                </a:solidFill>
              </a:rPr>
              <a:t>in-situ</a:t>
            </a:r>
            <a:r>
              <a:rPr lang="en-US" sz="2000" dirty="0">
                <a:solidFill>
                  <a:srgbClr val="000000"/>
                </a:solidFill>
              </a:rPr>
              <a:t> observations struggle to provide.</a:t>
            </a:r>
          </a:p>
        </p:txBody>
      </p:sp>
    </p:spTree>
    <p:extLst>
      <p:ext uri="{BB962C8B-B14F-4D97-AF65-F5344CB8AC3E}">
        <p14:creationId xmlns:p14="http://schemas.microsoft.com/office/powerpoint/2010/main" val="13697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6DABFE-D4A9-8A1C-DE7E-66A8ABB08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7078" y="812775"/>
            <a:ext cx="3776870" cy="57902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When</a:t>
            </a:r>
            <a:r>
              <a:rPr lang="en-US" dirty="0"/>
              <a:t>: 13–17 October 2025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Where</a:t>
            </a:r>
            <a:r>
              <a:rPr lang="en-US" dirty="0"/>
              <a:t>: JHU/APL, Laurel, MD (primarily in-person)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Remote access</a:t>
            </a:r>
            <a:r>
              <a:rPr lang="en-US" dirty="0"/>
              <a:t>: Zoom participation available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Format</a:t>
            </a:r>
            <a:r>
              <a:rPr lang="en-US" dirty="0"/>
              <a:t>: ~20 minute talks plus short Q&amp;A. Emphasis on interaction and collaborative problem-solving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Topics</a:t>
            </a:r>
            <a:r>
              <a:rPr lang="en-US" dirty="0"/>
              <a:t>: See the LMAG2025 site for science themes; topic suggestions and ideas welcome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Audience</a:t>
            </a:r>
            <a:r>
              <a:rPr lang="en-US" dirty="0"/>
              <a:t>: Heliophysics and geospace researchers, data scientists and computer scientists experts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No registration fee</a:t>
            </a:r>
          </a:p>
          <a:p>
            <a:pPr marL="0" indent="0">
              <a:buNone/>
            </a:pPr>
            <a:r>
              <a:rPr lang="en-US" b="1" dirty="0"/>
              <a:t>RSVP today!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C5C7ED-A8FB-1037-92C1-8646C0BBB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Advertisement: LMAG25 (13 – 17 OCT 2025 JHU/APL)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0FCED8-4B97-AD84-53C1-78997B5FE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1" y="812775"/>
            <a:ext cx="7772400" cy="40661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4D7CF8-FDEF-B985-0C4F-3DBCE6BE6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070" y="4902639"/>
            <a:ext cx="1659222" cy="165922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74E852-620E-C89F-352D-89BE236C9B51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3215292" y="5732250"/>
            <a:ext cx="4881786" cy="639674"/>
          </a:xfrm>
          <a:prstGeom prst="straightConnector1">
            <a:avLst/>
          </a:prstGeom>
          <a:ln w="12700">
            <a:solidFill>
              <a:srgbClr val="FF3B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7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B5E08-852B-3C02-C63E-CB1B2A42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Extras</a:t>
            </a:r>
          </a:p>
        </p:txBody>
      </p:sp>
    </p:spTree>
    <p:extLst>
      <p:ext uri="{BB962C8B-B14F-4D97-AF65-F5344CB8AC3E}">
        <p14:creationId xmlns:p14="http://schemas.microsoft.com/office/powerpoint/2010/main" val="3513758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94E3-76D8-864A-1EAD-9E40E570E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4FED01-3FFC-719D-F6FB-CDE5D355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400" y="46165"/>
            <a:ext cx="11041200" cy="40151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Forecasting DST index 3h in advance</a:t>
            </a:r>
            <a:endParaRPr lang="sv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9708EE-F9E0-82CD-67D1-59792AA42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7697"/>
            <a:ext cx="7772400" cy="55517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AB1EA8-420F-AA72-A696-17D70CE33C9C}"/>
              </a:ext>
            </a:extLst>
          </p:cNvPr>
          <p:cNvSpPr txBox="1"/>
          <p:nvPr/>
        </p:nvSpPr>
        <p:spPr>
          <a:xfrm>
            <a:off x="7772400" y="1612419"/>
            <a:ext cx="61619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explained_variance</a:t>
            </a:r>
            <a:r>
              <a:rPr lang="en-US" dirty="0">
                <a:solidFill>
                  <a:srgbClr val="000000"/>
                </a:solidFill>
              </a:rPr>
              <a:t>:  0.849</a:t>
            </a:r>
          </a:p>
          <a:p>
            <a:r>
              <a:rPr lang="en-US" dirty="0">
                <a:solidFill>
                  <a:srgbClr val="000000"/>
                </a:solidFill>
              </a:rPr>
              <a:t>median absolute error:  3.758</a:t>
            </a:r>
          </a:p>
          <a:p>
            <a:r>
              <a:rPr lang="en-US" dirty="0">
                <a:solidFill>
                  <a:srgbClr val="FF3B3B"/>
                </a:solidFill>
              </a:rPr>
              <a:t>r2:  0.848</a:t>
            </a:r>
          </a:p>
          <a:p>
            <a:r>
              <a:rPr lang="en-US" dirty="0">
                <a:solidFill>
                  <a:srgbClr val="FF3B3B"/>
                </a:solidFill>
              </a:rPr>
              <a:t>MAE:  5.183</a:t>
            </a:r>
          </a:p>
          <a:p>
            <a:r>
              <a:rPr lang="en-US" dirty="0">
                <a:solidFill>
                  <a:srgbClr val="000000"/>
                </a:solidFill>
              </a:rPr>
              <a:t>RMSE:  7.472</a:t>
            </a:r>
          </a:p>
        </p:txBody>
      </p:sp>
      <p:pic>
        <p:nvPicPr>
          <p:cNvPr id="1026" name="Picture 2" descr="Obama giving himself an award. (5120x2880px) : r/MemeRestoration">
            <a:extLst>
              <a:ext uri="{FF2B5EF4-FFF2-40B4-BE49-F238E27FC236}">
                <a16:creationId xmlns:a16="http://schemas.microsoft.com/office/drawing/2014/main" id="{51821C5C-242C-5853-487B-E91D9C49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2620" y="3634469"/>
            <a:ext cx="4578175" cy="257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366,900+ Champaign Stock Photos, Pictures &amp; Royalty-Free Images - iStock |  Champaign bottle, Champaign illinois, Champaign toast">
            <a:extLst>
              <a:ext uri="{FF2B5EF4-FFF2-40B4-BE49-F238E27FC236}">
                <a16:creationId xmlns:a16="http://schemas.microsoft.com/office/drawing/2014/main" id="{79C381FB-9EF9-2870-B647-B1B54C6AE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6239" y="36169"/>
            <a:ext cx="1735761" cy="133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5FA209-3AF6-0A46-8B30-1C6A17A33367}"/>
              </a:ext>
            </a:extLst>
          </p:cNvPr>
          <p:cNvSpPr txBox="1"/>
          <p:nvPr/>
        </p:nvSpPr>
        <p:spPr>
          <a:xfrm>
            <a:off x="5697939" y="6337775"/>
            <a:ext cx="108022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hlinkClick r:id="rId6"/>
              </a:rPr>
              <a:t>https://mybinder.org/v2/gh/SavvasRaptis/machine-learning-examples/HEAD</a:t>
            </a:r>
            <a:r>
              <a:rPr lang="en-US" sz="1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5775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8B931-31F7-BB85-4C96-AE70BF7C5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52E40B-A319-EED9-BC62-4DA46F6C7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400" y="46165"/>
            <a:ext cx="11041200" cy="40151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Forecasting DST index (3h) vs baseline model (2h)</a:t>
            </a:r>
            <a:endParaRPr lang="sv-S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1E0A6-EFEB-22C4-E1BA-19E0697AE94B}"/>
              </a:ext>
            </a:extLst>
          </p:cNvPr>
          <p:cNvSpPr txBox="1"/>
          <p:nvPr/>
        </p:nvSpPr>
        <p:spPr>
          <a:xfrm>
            <a:off x="8618552" y="5131576"/>
            <a:ext cx="616196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u="sng" dirty="0" err="1">
                <a:solidFill>
                  <a:srgbClr val="000000"/>
                </a:solidFill>
              </a:rPr>
              <a:t>Persistance</a:t>
            </a:r>
            <a:r>
              <a:rPr lang="en-US" sz="1300" b="1" u="sng" dirty="0">
                <a:solidFill>
                  <a:srgbClr val="000000"/>
                </a:solidFill>
              </a:rPr>
              <a:t> model (2h)</a:t>
            </a:r>
          </a:p>
          <a:p>
            <a:r>
              <a:rPr lang="en-US" sz="1300" dirty="0" err="1">
                <a:solidFill>
                  <a:srgbClr val="000000"/>
                </a:solidFill>
              </a:rPr>
              <a:t>explained_variance</a:t>
            </a:r>
            <a:r>
              <a:rPr lang="en-US" sz="1300" dirty="0">
                <a:solidFill>
                  <a:srgbClr val="000000"/>
                </a:solidFill>
              </a:rPr>
              <a:t>:  0.864</a:t>
            </a:r>
          </a:p>
          <a:p>
            <a:r>
              <a:rPr lang="en-US" sz="1300" dirty="0">
                <a:solidFill>
                  <a:srgbClr val="000000"/>
                </a:solidFill>
              </a:rPr>
              <a:t>median absolute error:  3.0</a:t>
            </a:r>
          </a:p>
          <a:p>
            <a:r>
              <a:rPr lang="en-US" sz="1300" dirty="0">
                <a:solidFill>
                  <a:srgbClr val="000000"/>
                </a:solidFill>
              </a:rPr>
              <a:t>r2:  0.864</a:t>
            </a:r>
          </a:p>
          <a:p>
            <a:r>
              <a:rPr lang="en-US" sz="1300" dirty="0">
                <a:solidFill>
                  <a:srgbClr val="000000"/>
                </a:solidFill>
              </a:rPr>
              <a:t>MAE:  4.71</a:t>
            </a:r>
          </a:p>
          <a:p>
            <a:r>
              <a:rPr lang="en-US" sz="1300" dirty="0">
                <a:solidFill>
                  <a:srgbClr val="000000"/>
                </a:solidFill>
              </a:rPr>
              <a:t>RMSE:  7.076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9BE24-DC53-7A0E-58E2-1C2CF466375A}"/>
              </a:ext>
            </a:extLst>
          </p:cNvPr>
          <p:cNvSpPr txBox="1"/>
          <p:nvPr/>
        </p:nvSpPr>
        <p:spPr>
          <a:xfrm>
            <a:off x="0" y="5131576"/>
            <a:ext cx="616196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u="sng" dirty="0">
                <a:solidFill>
                  <a:srgbClr val="000000"/>
                </a:solidFill>
              </a:rPr>
              <a:t>Predictions (3h)</a:t>
            </a:r>
          </a:p>
          <a:p>
            <a:r>
              <a:rPr lang="en-US" sz="1300" dirty="0" err="1">
                <a:solidFill>
                  <a:srgbClr val="000000"/>
                </a:solidFill>
              </a:rPr>
              <a:t>explained_variance</a:t>
            </a:r>
            <a:r>
              <a:rPr lang="en-US" sz="1300" dirty="0">
                <a:solidFill>
                  <a:srgbClr val="000000"/>
                </a:solidFill>
              </a:rPr>
              <a:t>:  0.849</a:t>
            </a:r>
          </a:p>
          <a:p>
            <a:r>
              <a:rPr lang="en-US" sz="1300" dirty="0">
                <a:solidFill>
                  <a:srgbClr val="000000"/>
                </a:solidFill>
              </a:rPr>
              <a:t>median absolute error:  3.758</a:t>
            </a:r>
          </a:p>
          <a:p>
            <a:r>
              <a:rPr lang="en-US" sz="1300" dirty="0">
                <a:solidFill>
                  <a:srgbClr val="000000"/>
                </a:solidFill>
              </a:rPr>
              <a:t>r2:  0.848</a:t>
            </a:r>
          </a:p>
          <a:p>
            <a:r>
              <a:rPr lang="en-US" sz="1300" dirty="0">
                <a:solidFill>
                  <a:srgbClr val="000000"/>
                </a:solidFill>
              </a:rPr>
              <a:t>MAE:  5.183</a:t>
            </a:r>
          </a:p>
          <a:p>
            <a:r>
              <a:rPr lang="en-US" sz="1300" dirty="0">
                <a:solidFill>
                  <a:srgbClr val="000000"/>
                </a:solidFill>
              </a:rPr>
              <a:t>RMSE:  7.472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52C51F-051B-2A2D-33AE-9B0EE689025F}"/>
              </a:ext>
            </a:extLst>
          </p:cNvPr>
          <p:cNvSpPr txBox="1"/>
          <p:nvPr/>
        </p:nvSpPr>
        <p:spPr>
          <a:xfrm>
            <a:off x="2531426" y="6331904"/>
            <a:ext cx="742438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hlinkClick r:id="rId3"/>
              </a:rPr>
              <a:t>https://mybinder.org/v2/gh/SavvasRaptis/machine-learning-examples/HEAD</a:t>
            </a:r>
            <a:r>
              <a:rPr lang="en-US" sz="1300" dirty="0"/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06CAB9B-DC8B-7918-C048-90DE62575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08" y="737580"/>
            <a:ext cx="10440783" cy="439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84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D513F-631D-0E56-A1C1-56154FEE3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8DA07-26EB-8CA0-6455-5CAB2D52E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12"/>
            <a:ext cx="10515600" cy="64633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ML storm time density modeling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FDDEB5-2F19-03B7-7A3C-65103D70E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618" y="985383"/>
            <a:ext cx="5623925" cy="5623925"/>
          </a:xfrm>
          <a:prstGeom prst="rect">
            <a:avLst/>
          </a:prstGeom>
        </p:spPr>
      </p:pic>
      <p:pic>
        <p:nvPicPr>
          <p:cNvPr id="6" name="density_modeling_storm_comparison_nov23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23F45395-15CB-1635-2088-E384CC05F7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7458" y="861036"/>
            <a:ext cx="5623925" cy="56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632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B5BA-772B-887E-01C2-00F59213E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 Feature importance storm vs quiet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23023-F94B-4E66-3CE7-07108353E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56" y="2580507"/>
            <a:ext cx="5769429" cy="34312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3A7927-0402-1194-E794-4E2EBA25E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886" y="2580507"/>
            <a:ext cx="6302302" cy="36169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3BB5B4-B35A-DC41-7815-D178F8CC4B92}"/>
              </a:ext>
            </a:extLst>
          </p:cNvPr>
          <p:cNvSpPr txBox="1"/>
          <p:nvPr/>
        </p:nvSpPr>
        <p:spPr>
          <a:xfrm>
            <a:off x="838200" y="1690688"/>
            <a:ext cx="11097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In other words, the increased upstream density had a greater impact during the storm than the SC location.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56F015-6B7E-A45C-DF6A-388DBA68117E}"/>
              </a:ext>
            </a:extLst>
          </p:cNvPr>
          <p:cNvSpPr txBox="1"/>
          <p:nvPr/>
        </p:nvSpPr>
        <p:spPr>
          <a:xfrm>
            <a:off x="1860413" y="6104570"/>
            <a:ext cx="1437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X_test_storm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CD2518-504A-6111-6CC0-B52D84416F4B}"/>
              </a:ext>
            </a:extLst>
          </p:cNvPr>
          <p:cNvSpPr txBox="1"/>
          <p:nvPr/>
        </p:nvSpPr>
        <p:spPr>
          <a:xfrm>
            <a:off x="7462633" y="6197416"/>
            <a:ext cx="3571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X_test_total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00317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B26C1-2C64-B5CD-6FB4-A964AC54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32C0D8-0F62-5CFA-5DC0-F931B01D2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214" y="980501"/>
            <a:ext cx="6148723" cy="36576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FF9C73C-BEAF-AB99-B35C-C9C277633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595131-D1D4-D3EB-0152-807002C0C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278" y="980501"/>
            <a:ext cx="6148722" cy="365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E8D4ED-6910-BCFE-F39B-5A491AAA2187}"/>
              </a:ext>
            </a:extLst>
          </p:cNvPr>
          <p:cNvSpPr txBox="1"/>
          <p:nvPr/>
        </p:nvSpPr>
        <p:spPr>
          <a:xfrm>
            <a:off x="2510245" y="611169"/>
            <a:ext cx="9127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Two different tests: (20% last data) – fixed dates 2005-2010 (after TM03 was published)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B0B8EF-36A7-38D7-BE1B-39B1B9B5320D}"/>
              </a:ext>
            </a:extLst>
          </p:cNvPr>
          <p:cNvSpPr txBox="1"/>
          <p:nvPr/>
        </p:nvSpPr>
        <p:spPr>
          <a:xfrm>
            <a:off x="1209760" y="4829513"/>
            <a:ext cx="98305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rgbClr val="000000"/>
                </a:solidFill>
              </a:rPr>
              <a:t>Key Results:</a:t>
            </a:r>
          </a:p>
          <a:p>
            <a:endParaRPr lang="en-US" u="sng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PRIME-PS demonstrates a performance edge (~30% MAE from TM03 and ~10% from NN).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This advantage is relatively low (from cross-validation).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Different input, method, history, etc. had a marginal effect.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Why is this the case?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415FE9-C130-EABC-EB6C-E79BEE8FAB4F}"/>
              </a:ext>
            </a:extLst>
          </p:cNvPr>
          <p:cNvSpPr/>
          <p:nvPr/>
        </p:nvSpPr>
        <p:spPr>
          <a:xfrm>
            <a:off x="341523" y="2654322"/>
            <a:ext cx="11049918" cy="1983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6DD2DE-03A7-203E-B8C4-3CFFD5D9237B}"/>
              </a:ext>
            </a:extLst>
          </p:cNvPr>
          <p:cNvSpPr/>
          <p:nvPr/>
        </p:nvSpPr>
        <p:spPr>
          <a:xfrm>
            <a:off x="341523" y="4184574"/>
            <a:ext cx="11049918" cy="1983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655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Next step: 2D modeling</a:t>
            </a:r>
            <a:endParaRPr lang="sv-S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66E478-8CF1-1157-0838-EFBA822B70F4}"/>
              </a:ext>
            </a:extLst>
          </p:cNvPr>
          <p:cNvSpPr txBox="1"/>
          <p:nvPr/>
        </p:nvSpPr>
        <p:spPr>
          <a:xfrm>
            <a:off x="89910" y="5042879"/>
            <a:ext cx="5562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Input: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x: Different solar wind features (e.g., n, B, etc.) + geomagnetic indices including time history up to 6h</a:t>
            </a:r>
          </a:p>
          <a:p>
            <a:r>
              <a:rPr lang="en-US" dirty="0">
                <a:solidFill>
                  <a:srgbClr val="000000"/>
                </a:solidFill>
              </a:rPr>
              <a:t>r: Location of SC measuring output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5313-3A0B-36E1-95D9-DCDA4276124D}"/>
              </a:ext>
            </a:extLst>
          </p:cNvPr>
          <p:cNvGrpSpPr/>
          <p:nvPr/>
        </p:nvGrpSpPr>
        <p:grpSpPr>
          <a:xfrm>
            <a:off x="2005392" y="1288381"/>
            <a:ext cx="8203883" cy="3580713"/>
            <a:chOff x="211816" y="1288381"/>
            <a:chExt cx="8203883" cy="358071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CFE18A-73EB-93F1-BC42-FCCDC3556D2E}"/>
                </a:ext>
              </a:extLst>
            </p:cNvPr>
            <p:cNvSpPr/>
            <p:nvPr/>
          </p:nvSpPr>
          <p:spPr>
            <a:xfrm>
              <a:off x="211816" y="2311400"/>
              <a:ext cx="2838735" cy="25527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E436333-68E4-7CFC-29C8-5A9143A51B0B}"/>
                </a:ext>
              </a:extLst>
            </p:cNvPr>
            <p:cNvSpPr/>
            <p:nvPr/>
          </p:nvSpPr>
          <p:spPr>
            <a:xfrm>
              <a:off x="3325388" y="2316394"/>
              <a:ext cx="2076598" cy="25527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582E47B-6D01-1F10-7D74-42819D615315}"/>
                </a:ext>
              </a:extLst>
            </p:cNvPr>
            <p:cNvSpPr txBox="1"/>
            <p:nvPr/>
          </p:nvSpPr>
          <p:spPr>
            <a:xfrm>
              <a:off x="6018135" y="1288381"/>
              <a:ext cx="187423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u="sng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Plasma Sheet</a:t>
              </a:r>
            </a:p>
            <a:p>
              <a:pPr algn="ctr"/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Quantity</a:t>
              </a:r>
              <a:endPara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568B270-F75E-2585-325F-7A44BB7CC520}"/>
                </a:ext>
              </a:extLst>
            </p:cNvPr>
            <p:cNvSpPr/>
            <p:nvPr/>
          </p:nvSpPr>
          <p:spPr>
            <a:xfrm>
              <a:off x="5576964" y="2316394"/>
              <a:ext cx="2838735" cy="25527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1D41EC2-EA3A-BA73-7018-6E6071623F3B}"/>
                </a:ext>
              </a:extLst>
            </p:cNvPr>
            <p:cNvSpPr txBox="1"/>
            <p:nvPr/>
          </p:nvSpPr>
          <p:spPr>
            <a:xfrm>
              <a:off x="2950504" y="1531764"/>
              <a:ext cx="27414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u="sng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Dense Neural Network</a:t>
              </a:r>
            </a:p>
            <a:p>
              <a:pPr algn="ctr"/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Regression</a:t>
              </a:r>
              <a:endParaRPr lang="en-US" sz="2000" dirty="0">
                <a:solidFill>
                  <a:prstClr val="black"/>
                </a:solidFill>
                <a:latin typeface="Garamond Premr Pro" panose="02020402060506020403" pitchFamily="18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FD4BD8B-33A7-1B78-D105-DA547F4BC919}"/>
                </a:ext>
              </a:extLst>
            </p:cNvPr>
            <p:cNvCxnSpPr>
              <a:cxnSpLocks/>
            </p:cNvCxnSpPr>
            <p:nvPr/>
          </p:nvCxnSpPr>
          <p:spPr>
            <a:xfrm>
              <a:off x="2064490" y="3587288"/>
              <a:ext cx="1108890" cy="46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8" name="Flowchart: Connector 117">
              <a:extLst>
                <a:ext uri="{FF2B5EF4-FFF2-40B4-BE49-F238E27FC236}">
                  <a16:creationId xmlns:a16="http://schemas.microsoft.com/office/drawing/2014/main" id="{033F727B-6F99-0DC7-327E-056FD17702A0}"/>
                </a:ext>
              </a:extLst>
            </p:cNvPr>
            <p:cNvSpPr/>
            <p:nvPr/>
          </p:nvSpPr>
          <p:spPr>
            <a:xfrm>
              <a:off x="3401268" y="3333916"/>
              <a:ext cx="457200" cy="457200"/>
            </a:xfrm>
            <a:prstGeom prst="flowChartConnector">
              <a:avLst/>
            </a:prstGeom>
            <a:solidFill>
              <a:sysClr val="window" lastClr="FFFFFF">
                <a:lumMod val="7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lowchart: Connector 118">
              <a:extLst>
                <a:ext uri="{FF2B5EF4-FFF2-40B4-BE49-F238E27FC236}">
                  <a16:creationId xmlns:a16="http://schemas.microsoft.com/office/drawing/2014/main" id="{8C26D3C0-B7DB-67A0-9203-32D43AFDCBB5}"/>
                </a:ext>
              </a:extLst>
            </p:cNvPr>
            <p:cNvSpPr/>
            <p:nvPr/>
          </p:nvSpPr>
          <p:spPr>
            <a:xfrm>
              <a:off x="3401268" y="4019716"/>
              <a:ext cx="457200" cy="457200"/>
            </a:xfrm>
            <a:prstGeom prst="flowChartConnector">
              <a:avLst/>
            </a:prstGeom>
            <a:solidFill>
              <a:sysClr val="window" lastClr="FFFFFF">
                <a:lumMod val="7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lowchart: Connector 119">
              <a:extLst>
                <a:ext uri="{FF2B5EF4-FFF2-40B4-BE49-F238E27FC236}">
                  <a16:creationId xmlns:a16="http://schemas.microsoft.com/office/drawing/2014/main" id="{31997A16-6179-007E-1144-530CAC9D5744}"/>
                </a:ext>
              </a:extLst>
            </p:cNvPr>
            <p:cNvSpPr/>
            <p:nvPr/>
          </p:nvSpPr>
          <p:spPr>
            <a:xfrm>
              <a:off x="4056455" y="3591515"/>
              <a:ext cx="457200" cy="457200"/>
            </a:xfrm>
            <a:prstGeom prst="flowChartConnector">
              <a:avLst/>
            </a:prstGeom>
            <a:solidFill>
              <a:sysClr val="window" lastClr="FFFFFF">
                <a:lumMod val="7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lowchart: Connector 120">
              <a:extLst>
                <a:ext uri="{FF2B5EF4-FFF2-40B4-BE49-F238E27FC236}">
                  <a16:creationId xmlns:a16="http://schemas.microsoft.com/office/drawing/2014/main" id="{16E811A9-B548-EF70-0578-E162BFF30C75}"/>
                </a:ext>
              </a:extLst>
            </p:cNvPr>
            <p:cNvSpPr/>
            <p:nvPr/>
          </p:nvSpPr>
          <p:spPr>
            <a:xfrm>
              <a:off x="3402057" y="2654711"/>
              <a:ext cx="457200" cy="457200"/>
            </a:xfrm>
            <a:prstGeom prst="flowChartConnector">
              <a:avLst/>
            </a:prstGeom>
            <a:solidFill>
              <a:sysClr val="window" lastClr="FFFFFF">
                <a:lumMod val="7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lowchart: Connector 121">
              <a:extLst>
                <a:ext uri="{FF2B5EF4-FFF2-40B4-BE49-F238E27FC236}">
                  <a16:creationId xmlns:a16="http://schemas.microsoft.com/office/drawing/2014/main" id="{39754E31-4E66-2BC3-A37B-74E2E736C1F6}"/>
                </a:ext>
              </a:extLst>
            </p:cNvPr>
            <p:cNvSpPr/>
            <p:nvPr/>
          </p:nvSpPr>
          <p:spPr>
            <a:xfrm>
              <a:off x="4061588" y="2883311"/>
              <a:ext cx="457200" cy="457200"/>
            </a:xfrm>
            <a:prstGeom prst="flowChartConnector">
              <a:avLst/>
            </a:prstGeom>
            <a:solidFill>
              <a:sysClr val="window" lastClr="FFFFFF">
                <a:lumMod val="7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8ADA529-AD1A-667E-1FD8-CC5BAF3F279E}"/>
                    </a:ext>
                  </a:extLst>
                </p:cNvPr>
                <p:cNvSpPr txBox="1"/>
                <p:nvPr/>
              </p:nvSpPr>
              <p:spPr>
                <a:xfrm>
                  <a:off x="4706052" y="3383044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352779E-BA51-0760-A931-2F0AC3379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6052" y="3383044"/>
                  <a:ext cx="41068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E69F1C6-02EA-B911-F296-3AD758CE3BDC}"/>
                </a:ext>
              </a:extLst>
            </p:cNvPr>
            <p:cNvCxnSpPr>
              <a:stCxn id="23" idx="3"/>
            </p:cNvCxnSpPr>
            <p:nvPr/>
          </p:nvCxnSpPr>
          <p:spPr>
            <a:xfrm>
              <a:off x="5116741" y="3567710"/>
              <a:ext cx="707573" cy="182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E70FB34-EA83-B116-4E74-C0FE70141CDC}"/>
                </a:ext>
              </a:extLst>
            </p:cNvPr>
            <p:cNvCxnSpPr>
              <a:stCxn id="21" idx="6"/>
              <a:endCxn id="22" idx="2"/>
            </p:cNvCxnSpPr>
            <p:nvPr/>
          </p:nvCxnSpPr>
          <p:spPr>
            <a:xfrm>
              <a:off x="3859257" y="2883311"/>
              <a:ext cx="202331" cy="22860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FB26570-D2A2-B1F8-4BD6-BC37C98BBF8B}"/>
                </a:ext>
              </a:extLst>
            </p:cNvPr>
            <p:cNvCxnSpPr>
              <a:stCxn id="18" idx="6"/>
              <a:endCxn id="22" idx="2"/>
            </p:cNvCxnSpPr>
            <p:nvPr/>
          </p:nvCxnSpPr>
          <p:spPr>
            <a:xfrm flipV="1">
              <a:off x="3858468" y="3111911"/>
              <a:ext cx="203120" cy="450605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A9866FC-394A-4A47-41C6-86CD9E5C3D45}"/>
                </a:ext>
              </a:extLst>
            </p:cNvPr>
            <p:cNvCxnSpPr>
              <a:stCxn id="19" idx="6"/>
              <a:endCxn id="22" idx="2"/>
            </p:cNvCxnSpPr>
            <p:nvPr/>
          </p:nvCxnSpPr>
          <p:spPr>
            <a:xfrm flipV="1">
              <a:off x="3858468" y="3111911"/>
              <a:ext cx="203120" cy="1136405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41E98AA-E55F-2967-C937-6F302643EE21}"/>
                </a:ext>
              </a:extLst>
            </p:cNvPr>
            <p:cNvCxnSpPr>
              <a:stCxn id="21" idx="6"/>
              <a:endCxn id="20" idx="2"/>
            </p:cNvCxnSpPr>
            <p:nvPr/>
          </p:nvCxnSpPr>
          <p:spPr>
            <a:xfrm>
              <a:off x="3859257" y="2883311"/>
              <a:ext cx="197198" cy="93680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ED2AE8C-3573-FA6D-EDA9-F42053B90FC2}"/>
                </a:ext>
              </a:extLst>
            </p:cNvPr>
            <p:cNvCxnSpPr>
              <a:stCxn id="18" idx="6"/>
              <a:endCxn id="20" idx="2"/>
            </p:cNvCxnSpPr>
            <p:nvPr/>
          </p:nvCxnSpPr>
          <p:spPr>
            <a:xfrm>
              <a:off x="3858468" y="3562516"/>
              <a:ext cx="197987" cy="257599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F98F45-9D75-A366-4D80-31F4C8A3B78B}"/>
                </a:ext>
              </a:extLst>
            </p:cNvPr>
            <p:cNvCxnSpPr>
              <a:stCxn id="19" idx="6"/>
              <a:endCxn id="20" idx="2"/>
            </p:cNvCxnSpPr>
            <p:nvPr/>
          </p:nvCxnSpPr>
          <p:spPr>
            <a:xfrm flipV="1">
              <a:off x="3858468" y="3820115"/>
              <a:ext cx="197987" cy="42820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26C393-45AE-CE8C-973E-DCE4932B94B0}"/>
                    </a:ext>
                  </a:extLst>
                </p:cNvPr>
                <p:cNvSpPr txBox="1"/>
                <p:nvPr/>
              </p:nvSpPr>
              <p:spPr>
                <a:xfrm>
                  <a:off x="6572835" y="3384868"/>
                  <a:ext cx="764829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26C393-45AE-CE8C-973E-DCE4932B94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2835" y="3384868"/>
                  <a:ext cx="764829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49EFEED-3A83-319F-1920-0A750ABDC4F2}"/>
                    </a:ext>
                  </a:extLst>
                </p:cNvPr>
                <p:cNvSpPr txBox="1"/>
                <p:nvPr/>
              </p:nvSpPr>
              <p:spPr>
                <a:xfrm>
                  <a:off x="856551" y="2837527"/>
                  <a:ext cx="1133708" cy="145046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endParaRPr lang="en-US" sz="2000" dirty="0">
                    <a:solidFill>
                      <a:srgbClr val="00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0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+5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−3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65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b="0" i="1" strike="sngStrike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trike="sngStrike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000" b="0" i="1" strike="sngStrike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sz="2000" b="0" i="1" strike="sngStrike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 strike="sngStrike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strike="sngStrike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000" b="0" i="1" strike="sngStrike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sz="2000" b="0" i="1" strike="sngStrike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 strike="sngStrike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strike="sngStrike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000" b="0" i="1" strike="sngStrike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oMath>
                    </m:oMathPara>
                  </a14:m>
                  <a:endParaRPr lang="en-US" sz="2000" dirty="0">
                    <a:solidFill>
                      <a:schemeClr val="tx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49EFEED-3A83-319F-1920-0A750ABDC4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551" y="2837527"/>
                  <a:ext cx="1133708" cy="1450462"/>
                </a:xfrm>
                <a:prstGeom prst="rect">
                  <a:avLst/>
                </a:prstGeom>
                <a:blipFill>
                  <a:blip r:embed="rId7"/>
                  <a:stretch>
                    <a:fillRect b="-870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1C8602A8-FBDA-ABFC-9B9F-75231E76F63B}"/>
              </a:ext>
            </a:extLst>
          </p:cNvPr>
          <p:cNvSpPr txBox="1"/>
          <p:nvPr/>
        </p:nvSpPr>
        <p:spPr>
          <a:xfrm>
            <a:off x="7617890" y="5082260"/>
            <a:ext cx="448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Output: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y: Different quantities at plasma sheet (e.g., n, B, T etc.)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112941F-DB1D-C5DE-C57B-0E9A43DE0B28}"/>
              </a:ext>
            </a:extLst>
          </p:cNvPr>
          <p:cNvCxnSpPr/>
          <p:nvPr/>
        </p:nvCxnSpPr>
        <p:spPr>
          <a:xfrm>
            <a:off x="1035586" y="3029639"/>
            <a:ext cx="1696597" cy="1019076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6306192-B073-43ED-7A8B-6F3B2F430967}"/>
              </a:ext>
            </a:extLst>
          </p:cNvPr>
          <p:cNvSpPr txBox="1"/>
          <p:nvPr/>
        </p:nvSpPr>
        <p:spPr>
          <a:xfrm>
            <a:off x="118835" y="2382954"/>
            <a:ext cx="1800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3B3B"/>
                </a:solidFill>
              </a:rPr>
              <a:t>grid in </a:t>
            </a:r>
            <a:r>
              <a:rPr lang="en-US" dirty="0" err="1">
                <a:solidFill>
                  <a:srgbClr val="FF3B3B"/>
                </a:solidFill>
              </a:rPr>
              <a:t>x,y</a:t>
            </a:r>
            <a:endParaRPr lang="en-US" dirty="0">
              <a:solidFill>
                <a:srgbClr val="FF3B3B"/>
              </a:solidFill>
            </a:endParaRPr>
          </a:p>
          <a:p>
            <a:pPr algn="ctr"/>
            <a:r>
              <a:rPr lang="en-US" dirty="0">
                <a:solidFill>
                  <a:srgbClr val="FF3B3B"/>
                </a:solidFill>
              </a:rPr>
              <a:t>To get 2D maps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DF0681-0D9C-0CA9-D2D7-0342B932350F}"/>
              </a:ext>
            </a:extLst>
          </p:cNvPr>
          <p:cNvSpPr txBox="1"/>
          <p:nvPr/>
        </p:nvSpPr>
        <p:spPr>
          <a:xfrm>
            <a:off x="9993239" y="2659953"/>
            <a:ext cx="232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3B3B"/>
                </a:solidFill>
              </a:rPr>
              <a:t>Output across 2D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17D819-862F-CA37-9B6D-2B5C531F3799}"/>
              </a:ext>
            </a:extLst>
          </p:cNvPr>
          <p:cNvCxnSpPr>
            <a:cxnSpLocks/>
            <a:endCxn id="31" idx="3"/>
          </p:cNvCxnSpPr>
          <p:nvPr/>
        </p:nvCxnSpPr>
        <p:spPr>
          <a:xfrm flipH="1">
            <a:off x="9131240" y="3106029"/>
            <a:ext cx="1826556" cy="463505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A4953F7-2532-FA6C-5833-6CB79670D3D5}"/>
              </a:ext>
            </a:extLst>
          </p:cNvPr>
          <p:cNvSpPr txBox="1"/>
          <p:nvPr/>
        </p:nvSpPr>
        <p:spPr>
          <a:xfrm>
            <a:off x="2374148" y="1313856"/>
            <a:ext cx="20950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algn="ctr"/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 properties + Geo conditions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1942D3-C49E-35DD-331A-186AEB8F4E53}"/>
              </a:ext>
            </a:extLst>
          </p:cNvPr>
          <p:cNvSpPr txBox="1"/>
          <p:nvPr/>
        </p:nvSpPr>
        <p:spPr>
          <a:xfrm>
            <a:off x="0" y="6354201"/>
            <a:ext cx="4089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SW Input tried: Wind (1min res) – </a:t>
            </a:r>
            <a:r>
              <a:rPr lang="en-US" sz="1200" dirty="0" err="1">
                <a:solidFill>
                  <a:srgbClr val="000000"/>
                </a:solidFill>
              </a:rPr>
              <a:t>OMNIweb</a:t>
            </a:r>
            <a:r>
              <a:rPr lang="en-US" sz="1200" dirty="0">
                <a:solidFill>
                  <a:srgbClr val="000000"/>
                </a:solidFill>
              </a:rPr>
              <a:t> (1/5 min res)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548C06-96F2-0FCE-B1CD-08C91286A64D}"/>
              </a:ext>
            </a:extLst>
          </p:cNvPr>
          <p:cNvSpPr txBox="1"/>
          <p:nvPr/>
        </p:nvSpPr>
        <p:spPr>
          <a:xfrm>
            <a:off x="7617890" y="6354200"/>
            <a:ext cx="42017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Results here shown for 1min averaged quantities for output</a:t>
            </a:r>
          </a:p>
        </p:txBody>
      </p:sp>
    </p:spTree>
    <p:extLst>
      <p:ext uri="{BB962C8B-B14F-4D97-AF65-F5344CB8AC3E}">
        <p14:creationId xmlns:p14="http://schemas.microsoft.com/office/powerpoint/2010/main" val="1281372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D27A61-5967-8E01-7571-B3562411C8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798"/>
          <a:stretch/>
        </p:blipFill>
        <p:spPr>
          <a:xfrm>
            <a:off x="1363861" y="1730911"/>
            <a:ext cx="2369505" cy="4314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D39FAA-2E16-E9B1-46B2-FD663BD10B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930"/>
          <a:stretch/>
        </p:blipFill>
        <p:spPr>
          <a:xfrm>
            <a:off x="3718007" y="1730912"/>
            <a:ext cx="2574186" cy="4314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C05BF1-37F0-7DA2-C0F6-3B486507A7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071" r="35089"/>
          <a:stretch>
            <a:fillRect/>
          </a:stretch>
        </p:blipFill>
        <p:spPr>
          <a:xfrm>
            <a:off x="6125282" y="2016480"/>
            <a:ext cx="2659424" cy="3743173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FDD08E3-BCBC-1854-8931-A7233ED96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339389"/>
              </p:ext>
            </p:extLst>
          </p:nvPr>
        </p:nvGraphicFramePr>
        <p:xfrm>
          <a:off x="8839771" y="2217939"/>
          <a:ext cx="2659425" cy="3085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6475">
                  <a:extLst>
                    <a:ext uri="{9D8B030D-6E8A-4147-A177-3AD203B41FA5}">
                      <a16:colId xmlns:a16="http://schemas.microsoft.com/office/drawing/2014/main" val="3722937019"/>
                    </a:ext>
                  </a:extLst>
                </a:gridCol>
                <a:gridCol w="886475">
                  <a:extLst>
                    <a:ext uri="{9D8B030D-6E8A-4147-A177-3AD203B41FA5}">
                      <a16:colId xmlns:a16="http://schemas.microsoft.com/office/drawing/2014/main" val="1530983604"/>
                    </a:ext>
                  </a:extLst>
                </a:gridCol>
                <a:gridCol w="886475">
                  <a:extLst>
                    <a:ext uri="{9D8B030D-6E8A-4147-A177-3AD203B41FA5}">
                      <a16:colId xmlns:a16="http://schemas.microsoft.com/office/drawing/2014/main" val="3074667537"/>
                    </a:ext>
                  </a:extLst>
                </a:gridCol>
              </a:tblGrid>
              <a:tr h="43518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TM03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NN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4545474"/>
                  </a:ext>
                </a:extLst>
              </a:tr>
              <a:tr h="66247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0.68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429499"/>
                  </a:ext>
                </a:extLst>
              </a:tr>
              <a:tr h="66247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0.19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0.11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3806786"/>
                  </a:ext>
                </a:extLst>
              </a:tr>
              <a:tr h="66247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0.27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918466"/>
                  </a:ext>
                </a:extLst>
              </a:tr>
              <a:tr h="66247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r (</a:t>
                      </a:r>
                      <a:r>
                        <a:rPr lang="en-US" b="1" dirty="0" err="1">
                          <a:solidFill>
                            <a:srgbClr val="000000"/>
                          </a:solidFill>
                        </a:rPr>
                        <a:t>cor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0.58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0.83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7990502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C468C26-52C4-97B0-DD09-36FD7DBA36F2}"/>
              </a:ext>
            </a:extLst>
          </p:cNvPr>
          <p:cNvSpPr/>
          <p:nvPr/>
        </p:nvSpPr>
        <p:spPr>
          <a:xfrm>
            <a:off x="8668641" y="3305060"/>
            <a:ext cx="149652" cy="9915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5917A-4495-9540-2DB1-2E58C5972FAF}"/>
              </a:ext>
            </a:extLst>
          </p:cNvPr>
          <p:cNvSpPr/>
          <p:nvPr/>
        </p:nvSpPr>
        <p:spPr>
          <a:xfrm>
            <a:off x="6070217" y="5406680"/>
            <a:ext cx="136028" cy="2339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97DAB9-0728-2A47-9E3C-DC9BCC6753D6}"/>
              </a:ext>
            </a:extLst>
          </p:cNvPr>
          <p:cNvSpPr txBox="1"/>
          <p:nvPr/>
        </p:nvSpPr>
        <p:spPr>
          <a:xfrm>
            <a:off x="2038448" y="1471594"/>
            <a:ext cx="14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Neural Network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94FBF0-45F8-C00E-34F5-566303E218A4}"/>
              </a:ext>
            </a:extLst>
          </p:cNvPr>
          <p:cNvSpPr txBox="1"/>
          <p:nvPr/>
        </p:nvSpPr>
        <p:spPr>
          <a:xfrm>
            <a:off x="4239170" y="1471595"/>
            <a:ext cx="1547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Empirical (TM03)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11FE5-FB4E-3C82-A3DC-F57F091DBAF7}"/>
              </a:ext>
            </a:extLst>
          </p:cNvPr>
          <p:cNvSpPr txBox="1"/>
          <p:nvPr/>
        </p:nvSpPr>
        <p:spPr>
          <a:xfrm>
            <a:off x="1135515" y="147159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(a)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5E2E2-B6AC-0840-4250-E03DFDC2E9E0}"/>
              </a:ext>
            </a:extLst>
          </p:cNvPr>
          <p:cNvSpPr txBox="1"/>
          <p:nvPr/>
        </p:nvSpPr>
        <p:spPr>
          <a:xfrm>
            <a:off x="6206245" y="147159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946238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0CC69E6-1636-5EEF-7D74-AE22072E1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6" y="1393195"/>
            <a:ext cx="4983825" cy="38337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6D99EEA-DAFD-E3F4-1434-6D2021651725}"/>
              </a:ext>
            </a:extLst>
          </p:cNvPr>
          <p:cNvSpPr/>
          <p:nvPr/>
        </p:nvSpPr>
        <p:spPr>
          <a:xfrm>
            <a:off x="6998576" y="4221126"/>
            <a:ext cx="1369250" cy="797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DB2DEE-FBD5-C419-C816-075796A2CCFB}"/>
              </a:ext>
            </a:extLst>
          </p:cNvPr>
          <p:cNvSpPr txBox="1"/>
          <p:nvPr/>
        </p:nvSpPr>
        <p:spPr>
          <a:xfrm>
            <a:off x="0" y="140779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46C3DD-C2A4-C6C4-8CE3-29225F5A9A2B}"/>
              </a:ext>
            </a:extLst>
          </p:cNvPr>
          <p:cNvSpPr txBox="1"/>
          <p:nvPr/>
        </p:nvSpPr>
        <p:spPr>
          <a:xfrm>
            <a:off x="4949040" y="143485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(b)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D08DF5-674D-D555-1B1E-3F2CF67A04BC}"/>
              </a:ext>
            </a:extLst>
          </p:cNvPr>
          <p:cNvGrpSpPr/>
          <p:nvPr/>
        </p:nvGrpSpPr>
        <p:grpSpPr>
          <a:xfrm>
            <a:off x="4949040" y="1510091"/>
            <a:ext cx="3297786" cy="3618783"/>
            <a:chOff x="5185643" y="1876102"/>
            <a:chExt cx="3297786" cy="3618783"/>
          </a:xfrm>
        </p:grpSpPr>
        <p:pic>
          <p:nvPicPr>
            <p:cNvPr id="2050" name="Picture 2" descr="Details are in the caption following the image">
              <a:extLst>
                <a:ext uri="{FF2B5EF4-FFF2-40B4-BE49-F238E27FC236}">
                  <a16:creationId xmlns:a16="http://schemas.microsoft.com/office/drawing/2014/main" id="{551D0656-7CB2-CECE-C14F-D89F3145F1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9" t="47438" r="47415" b="2019"/>
            <a:stretch>
              <a:fillRect/>
            </a:stretch>
          </p:blipFill>
          <p:spPr bwMode="auto">
            <a:xfrm>
              <a:off x="5428658" y="2199267"/>
              <a:ext cx="3054771" cy="30547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1DABAD2-28F7-1838-737B-5834FDD07603}"/>
                </a:ext>
              </a:extLst>
            </p:cNvPr>
            <p:cNvSpPr txBox="1"/>
            <p:nvPr/>
          </p:nvSpPr>
          <p:spPr>
            <a:xfrm>
              <a:off x="6140755" y="1876102"/>
              <a:ext cx="163057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rgbClr val="000000"/>
                  </a:solidFill>
                </a:rPr>
                <a:t>In-situ Clustering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332693A-50BD-FAFE-5410-9C3748D23064}"/>
                </a:ext>
              </a:extLst>
            </p:cNvPr>
            <p:cNvSpPr txBox="1"/>
            <p:nvPr/>
          </p:nvSpPr>
          <p:spPr>
            <a:xfrm>
              <a:off x="6598466" y="5248664"/>
              <a:ext cx="80021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rgbClr val="000000"/>
                  </a:solidFill>
                </a:rPr>
                <a:t>Feature #1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9B45F7-6D11-2FC6-D5D8-EEFFCBA88FFC}"/>
                </a:ext>
              </a:extLst>
            </p:cNvPr>
            <p:cNvSpPr txBox="1"/>
            <p:nvPr/>
          </p:nvSpPr>
          <p:spPr>
            <a:xfrm rot="16200000">
              <a:off x="4908644" y="3603542"/>
              <a:ext cx="80021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rgbClr val="000000"/>
                  </a:solidFill>
                </a:rPr>
                <a:t>Feature #2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0507953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F2B428C8B21A141B5825E5B86F557DB" ma:contentTypeVersion="15" ma:contentTypeDescription="Skapa ett nytt dokument." ma:contentTypeScope="" ma:versionID="975073b9cecf71b6bc8c14a7c33e31db">
  <xsd:schema xmlns:xsd="http://www.w3.org/2001/XMLSchema" xmlns:xs="http://www.w3.org/2001/XMLSchema" xmlns:p="http://schemas.microsoft.com/office/2006/metadata/properties" xmlns:ns3="977cb6ed-b1a4-473b-8ba2-0f8e0a4901ff" xmlns:ns4="6707e3d7-8225-4321-a0ab-c333d198a7fc" targetNamespace="http://schemas.microsoft.com/office/2006/metadata/properties" ma:root="true" ma:fieldsID="0cdfbe7b44d734305c4ef3f71cda5902" ns3:_="" ns4:_="">
    <xsd:import namespace="977cb6ed-b1a4-473b-8ba2-0f8e0a4901ff"/>
    <xsd:import namespace="6707e3d7-8225-4321-a0ab-c333d198a7f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7cb6ed-b1a4-473b-8ba2-0f8e0a4901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07e3d7-8225-4321-a0ab-c333d198a7f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Delar tips,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B3048F-AB18-4F93-A27A-DBB845175962}">
  <ds:schemaRefs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6707e3d7-8225-4321-a0ab-c333d198a7fc"/>
    <ds:schemaRef ds:uri="977cb6ed-b1a4-473b-8ba2-0f8e0a4901ff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78B54EE-C366-449D-9972-DF83693BEC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7cb6ed-b1a4-473b-8ba2-0f8e0a4901ff"/>
    <ds:schemaRef ds:uri="6707e3d7-8225-4321-a0ab-c333d198a7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CBB746-F6CA-42D5-AFDD-F49C58B427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KU Leuven</Template>
  <TotalTime>0</TotalTime>
  <Words>1526</Words>
  <Application>Microsoft Macintosh PowerPoint</Application>
  <PresentationFormat>Widescreen</PresentationFormat>
  <Paragraphs>280</Paragraphs>
  <Slides>26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Cambria Math</vt:lpstr>
      <vt:lpstr>Garamond</vt:lpstr>
      <vt:lpstr>Garamond Premr Pro</vt:lpstr>
      <vt:lpstr>Times New Roman</vt:lpstr>
      <vt:lpstr>Wingdings</vt:lpstr>
      <vt:lpstr>KU Leuven</vt:lpstr>
      <vt:lpstr>Modeling Earth’s Plasma Sheet using Machine Learning</vt:lpstr>
      <vt:lpstr>Earth’s plasma sheet</vt:lpstr>
      <vt:lpstr>Baseline empirical models</vt:lpstr>
      <vt:lpstr>The dataset (output – Central Plasma Sheet)</vt:lpstr>
      <vt:lpstr>Data Scientist POV  (i.e., Input, output &amp; regression)</vt:lpstr>
      <vt:lpstr>PowerPoint Presentation</vt:lpstr>
      <vt:lpstr>Modeling Density | Predictions vs Observations</vt:lpstr>
      <vt:lpstr>More methodologies &amp; input space</vt:lpstr>
      <vt:lpstr>Updated results (Test set, last 20% of data)</vt:lpstr>
      <vt:lpstr>Preliminary feature Importance Analysis</vt:lpstr>
      <vt:lpstr>PowerPoint Presentation</vt:lpstr>
      <vt:lpstr>Modeling Density | 2D Maps</vt:lpstr>
      <vt:lpstr>Modeling Temperature Ratios with MMS | 2D Maps</vt:lpstr>
      <vt:lpstr>PowerPoint Presentation</vt:lpstr>
      <vt:lpstr>Test case of a storm (05 Nov 2023)</vt:lpstr>
      <vt:lpstr>Summary &amp; Discussion</vt:lpstr>
      <vt:lpstr>Advertisement: LMAG25 (13 – 17 OCT 2025 JHU/APL)</vt:lpstr>
      <vt:lpstr>Extras</vt:lpstr>
      <vt:lpstr>Forecasting DST index 3h in advance</vt:lpstr>
      <vt:lpstr>Forecasting DST index (3h) vs baseline model (2h)</vt:lpstr>
      <vt:lpstr>ML storm time density modeling</vt:lpstr>
      <vt:lpstr>Model Feature importance storm vs quiet</vt:lpstr>
      <vt:lpstr>Updated results</vt:lpstr>
      <vt:lpstr>Next step: 2D modeling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2017-09-13T11:47:32Z</dcterms:created>
  <dcterms:modified xsi:type="dcterms:W3CDTF">2025-08-26T12:34:28Z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0x0101004F2B428C8B21A141B5825E5B86F557DB</vt:lpwstr>
  </property>
</Properties>
</file>