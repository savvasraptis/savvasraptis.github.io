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  <p:sldMasterId id="2147483651" r:id="rId5"/>
  </p:sldMasterIdLst>
  <p:notesMasterIdLst>
    <p:notesMasterId r:id="rId18"/>
  </p:notesMasterIdLst>
  <p:handoutMasterIdLst>
    <p:handoutMasterId r:id="rId19"/>
  </p:handoutMasterIdLst>
  <p:sldIdLst>
    <p:sldId id="365" r:id="rId6"/>
    <p:sldId id="956" r:id="rId7"/>
    <p:sldId id="944" r:id="rId8"/>
    <p:sldId id="1521" r:id="rId9"/>
    <p:sldId id="1529" r:id="rId10"/>
    <p:sldId id="1528" r:id="rId11"/>
    <p:sldId id="1531" r:id="rId12"/>
    <p:sldId id="955" r:id="rId13"/>
    <p:sldId id="1536" r:id="rId14"/>
    <p:sldId id="949" r:id="rId15"/>
    <p:sldId id="1522" r:id="rId16"/>
    <p:sldId id="1540" r:id="rId1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5FF"/>
    <a:srgbClr val="FF3B3B"/>
    <a:srgbClr val="000000"/>
    <a:srgbClr val="7F7F7F"/>
    <a:srgbClr val="DDDDDD"/>
    <a:srgbClr val="EAEAEA"/>
    <a:srgbClr val="2F4D5D"/>
    <a:srgbClr val="5F5F5F"/>
    <a:srgbClr val="4D4D4D"/>
    <a:srgbClr val="1D8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53960-F629-41DD-9591-305275A7A049}" v="194" dt="2023-02-20T13:40:05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14" autoAdjust="0"/>
    <p:restoredTop sz="96327" autoAdjust="0"/>
  </p:normalViewPr>
  <p:slideViewPr>
    <p:cSldViewPr snapToGrid="0" snapToObjects="1">
      <p:cViewPr varScale="1">
        <p:scale>
          <a:sx n="124" d="100"/>
          <a:sy n="124" d="100"/>
        </p:scale>
        <p:origin x="1112" y="168"/>
      </p:cViewPr>
      <p:guideLst/>
    </p:cSldViewPr>
  </p:slideViewPr>
  <p:outlineViewPr>
    <p:cViewPr>
      <p:scale>
        <a:sx n="33" d="100"/>
        <a:sy n="33" d="100"/>
      </p:scale>
      <p:origin x="0" y="-36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 snapToObjects="1">
      <p:cViewPr varScale="1">
        <p:scale>
          <a:sx n="126" d="100"/>
          <a:sy n="126" d="100"/>
        </p:scale>
        <p:origin x="4912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27-06-2025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27-06-2025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397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2504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271BC-0638-2EA7-D088-6EB1E96B5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8579A-CE0F-ABA1-F25B-B9728FCAA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35A05-DE52-D709-1A38-6020C9ACD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FF56D-58E0-B722-C1D8-7A31758DB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8610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75A5-A8D6-25F7-D3D6-884E9398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1C86C-0A66-F968-9975-5D82A29DA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D48E3-325E-661B-4143-8BEBD5E4B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 mark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FA18B-7270-DF4F-E8C5-0DFF1800E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3265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181FC-8CDF-022F-FDB6-53EB80F7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7918E-A9D3-B11D-8BBB-ACB8E1756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F646A-D011-23FF-3D32-F60D23B3B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65D31-DDA1-48CB-1862-8D4EEC68E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1205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47C2-A7C7-5CC1-8562-80E21805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E5349-8644-826E-110E-283F321AB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60CAA-51C6-69FC-1B5C-593FE0A67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 mark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2C9CD-59F5-5DF8-B0F1-FD6ADD0D3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7424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0"/>
            <a:ext cx="12193200" cy="5104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76000" y="812775"/>
            <a:ext cx="11041200" cy="5790288"/>
          </a:xfrm>
        </p:spPr>
        <p:txBody>
          <a:bodyPr/>
          <a:lstStyle>
            <a:lvl1pPr>
              <a:defRPr lang="en-US" dirty="0" smtClean="0">
                <a:solidFill>
                  <a:srgbClr val="000000"/>
                </a:solidFill>
              </a:defRPr>
            </a:lvl1pPr>
            <a:lvl2pPr>
              <a:defRPr lang="en-US" dirty="0" smtClean="0">
                <a:solidFill>
                  <a:srgbClr val="000000"/>
                </a:solidFill>
              </a:defRPr>
            </a:lvl2pPr>
            <a:lvl3pPr>
              <a:defRPr lang="en-US" dirty="0" smtClean="0">
                <a:solidFill>
                  <a:srgbClr val="000000"/>
                </a:solidFill>
              </a:defRPr>
            </a:lvl3pPr>
            <a:lvl4pPr>
              <a:defRPr lang="en-US" dirty="0" smtClean="0">
                <a:solidFill>
                  <a:srgbClr val="000000"/>
                </a:solidFill>
              </a:defRPr>
            </a:lvl4pPr>
            <a:lvl5pPr>
              <a:defRPr lang="nl-NL" dirty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75400" y="46165"/>
            <a:ext cx="11041200" cy="74292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8" name="Tijdelijke aanduiding voor datum 3"/>
          <p:cNvSpPr txBox="1">
            <a:spLocks/>
          </p:cNvSpPr>
          <p:nvPr userDrawn="1"/>
        </p:nvSpPr>
        <p:spPr>
          <a:xfrm>
            <a:off x="0" y="6628375"/>
            <a:ext cx="12192000" cy="231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baseline="0" dirty="0">
                <a:solidFill>
                  <a:srgbClr val="5F5F5F"/>
                </a:solidFill>
                <a:effectLst/>
              </a:rPr>
              <a:t>Savvas Raptis – Data-Driven Models &amp; Validation</a:t>
            </a:r>
            <a:endParaRPr lang="nl-NL" sz="1300" dirty="0">
              <a:solidFill>
                <a:srgbClr val="5F5F5F"/>
              </a:solidFill>
              <a:effectLst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177421" y="6349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ijdelijke aanduiding voor datum 3"/>
          <p:cNvSpPr txBox="1">
            <a:spLocks/>
          </p:cNvSpPr>
          <p:nvPr userDrawn="1"/>
        </p:nvSpPr>
        <p:spPr>
          <a:xfrm>
            <a:off x="8313020" y="6628374"/>
            <a:ext cx="3840480" cy="23125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300" dirty="0">
                <a:solidFill>
                  <a:srgbClr val="5F5F5F"/>
                </a:solidFill>
              </a:rPr>
              <a:t> Geospace Modeling and Validation |</a:t>
            </a:r>
            <a:r>
              <a:rPr lang="en-US" sz="1300" baseline="0" dirty="0">
                <a:solidFill>
                  <a:srgbClr val="5F5F5F"/>
                </a:solidFill>
              </a:rPr>
              <a:t> 27 Jun 25</a:t>
            </a:r>
            <a:endParaRPr lang="nl-NL" sz="1300" dirty="0">
              <a:solidFill>
                <a:srgbClr val="5F5F5F"/>
              </a:solidFill>
            </a:endParaRPr>
          </a:p>
        </p:txBody>
      </p:sp>
      <p:sp>
        <p:nvSpPr>
          <p:cNvPr id="11" name="Tijdelijke aanduiding voor datum 3"/>
          <p:cNvSpPr txBox="1">
            <a:spLocks/>
          </p:cNvSpPr>
          <p:nvPr userDrawn="1"/>
        </p:nvSpPr>
        <p:spPr>
          <a:xfrm>
            <a:off x="38500" y="6638591"/>
            <a:ext cx="3840480" cy="2108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A71291-1C34-4771-A37E-677F2182E258}" type="slidenum">
              <a:rPr lang="en-US" sz="1300" smtClean="0">
                <a:solidFill>
                  <a:srgbClr val="5F5F5F"/>
                </a:solidFill>
              </a:rPr>
              <a:pPr/>
              <a:t>‹#›</a:t>
            </a:fld>
            <a:endParaRPr lang="en-US" sz="1300" dirty="0">
              <a:solidFill>
                <a:srgbClr val="5F5F5F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626748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oli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2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0"/>
            <a:ext cx="12193200" cy="5104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9812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76000" y="812775"/>
            <a:ext cx="11041200" cy="5790288"/>
          </a:xfrm>
        </p:spPr>
        <p:txBody>
          <a:bodyPr/>
          <a:lstStyle>
            <a:lvl1pPr>
              <a:defRPr lang="en-US" dirty="0" smtClean="0">
                <a:solidFill>
                  <a:srgbClr val="000000"/>
                </a:solidFill>
              </a:defRPr>
            </a:lvl1pPr>
            <a:lvl2pPr>
              <a:defRPr lang="en-US" dirty="0" smtClean="0">
                <a:solidFill>
                  <a:srgbClr val="000000"/>
                </a:solidFill>
              </a:defRPr>
            </a:lvl2pPr>
            <a:lvl3pPr>
              <a:defRPr lang="en-US" dirty="0" smtClean="0">
                <a:solidFill>
                  <a:srgbClr val="000000"/>
                </a:solidFill>
              </a:defRPr>
            </a:lvl3pPr>
            <a:lvl4pPr>
              <a:defRPr lang="en-US" dirty="0" smtClean="0">
                <a:solidFill>
                  <a:srgbClr val="000000"/>
                </a:solidFill>
              </a:defRPr>
            </a:lvl4pPr>
            <a:lvl5pPr>
              <a:defRPr lang="nl-NL" dirty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75400" y="46165"/>
            <a:ext cx="11041200" cy="74292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8" name="Tijdelijke aanduiding voor datum 3"/>
          <p:cNvSpPr txBox="1">
            <a:spLocks/>
          </p:cNvSpPr>
          <p:nvPr userDrawn="1"/>
        </p:nvSpPr>
        <p:spPr>
          <a:xfrm>
            <a:off x="0" y="6628375"/>
            <a:ext cx="12192000" cy="231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>
                <a:solidFill>
                  <a:srgbClr val="5F5F5F"/>
                </a:solidFill>
                <a:effectLst/>
              </a:rPr>
              <a:t>Savvas</a:t>
            </a:r>
            <a:r>
              <a:rPr lang="en-US" sz="1300" baseline="0" dirty="0">
                <a:solidFill>
                  <a:srgbClr val="5F5F5F"/>
                </a:solidFill>
                <a:effectLst/>
              </a:rPr>
              <a:t> Raptis – Foreshock &amp; </a:t>
            </a:r>
            <a:r>
              <a:rPr lang="en-US" sz="1300" baseline="0" dirty="0" err="1">
                <a:solidFill>
                  <a:srgbClr val="5F5F5F"/>
                </a:solidFill>
                <a:effectLst/>
              </a:rPr>
              <a:t>Magnetosheath</a:t>
            </a:r>
            <a:r>
              <a:rPr lang="en-US" sz="1300" baseline="0" dirty="0">
                <a:solidFill>
                  <a:srgbClr val="5F5F5F"/>
                </a:solidFill>
                <a:effectLst/>
              </a:rPr>
              <a:t> Transients</a:t>
            </a:r>
            <a:endParaRPr lang="nl-NL" sz="1300" dirty="0">
              <a:solidFill>
                <a:srgbClr val="5F5F5F"/>
              </a:solidFill>
              <a:effectLst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177421" y="6349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ijdelijke aanduiding voor datum 3"/>
          <p:cNvSpPr txBox="1">
            <a:spLocks/>
          </p:cNvSpPr>
          <p:nvPr userDrawn="1"/>
        </p:nvSpPr>
        <p:spPr>
          <a:xfrm>
            <a:off x="8313020" y="6628374"/>
            <a:ext cx="3840480" cy="23125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300" dirty="0">
                <a:solidFill>
                  <a:srgbClr val="5F5F5F"/>
                </a:solidFill>
              </a:rPr>
              <a:t>Solar/</a:t>
            </a:r>
            <a:r>
              <a:rPr lang="en-US" sz="1300" dirty="0" err="1">
                <a:solidFill>
                  <a:srgbClr val="5F5F5F"/>
                </a:solidFill>
              </a:rPr>
              <a:t>Helio</a:t>
            </a:r>
            <a:r>
              <a:rPr lang="en-US" sz="1300" dirty="0">
                <a:solidFill>
                  <a:srgbClr val="5F5F5F"/>
                </a:solidFill>
              </a:rPr>
              <a:t> SRP meeting 2023  |</a:t>
            </a:r>
            <a:r>
              <a:rPr lang="en-US" sz="1300" baseline="0" dirty="0">
                <a:solidFill>
                  <a:srgbClr val="5F5F5F"/>
                </a:solidFill>
              </a:rPr>
              <a:t> 01 Nov 23</a:t>
            </a:r>
            <a:endParaRPr lang="nl-NL" sz="1300" dirty="0">
              <a:solidFill>
                <a:srgbClr val="5F5F5F"/>
              </a:solidFill>
            </a:endParaRPr>
          </a:p>
        </p:txBody>
      </p:sp>
      <p:sp>
        <p:nvSpPr>
          <p:cNvPr id="11" name="Tijdelijke aanduiding voor datum 3"/>
          <p:cNvSpPr txBox="1">
            <a:spLocks/>
          </p:cNvSpPr>
          <p:nvPr userDrawn="1"/>
        </p:nvSpPr>
        <p:spPr>
          <a:xfrm>
            <a:off x="38500" y="6638591"/>
            <a:ext cx="3840480" cy="2108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A71291-1C34-4771-A37E-677F2182E258}" type="slidenum">
              <a:rPr lang="en-US" sz="1300" smtClean="0">
                <a:solidFill>
                  <a:srgbClr val="5F5F5F"/>
                </a:solidFill>
              </a:rPr>
              <a:pPr/>
              <a:t>‹#›</a:t>
            </a:fld>
            <a:endParaRPr lang="en-US" sz="1300" dirty="0">
              <a:solidFill>
                <a:srgbClr val="5F5F5F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626748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oli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450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rgbClr val="000000"/>
                </a:solidFill>
                <a:latin typeface="Arial" charset="0"/>
              </a:defRPr>
            </a:lvl1pPr>
          </a:lstStyle>
          <a:p>
            <a:fld id="{07099480-D11A-4789-80EE-022E820CF635}" type="datetime1">
              <a:rPr lang="nl-BE" smtClean="0"/>
              <a:pPr/>
              <a:t>27/06/2025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lang="en-US" dirty="0" smtClean="0">
                <a:solidFill>
                  <a:srgbClr val="000000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rgbClr val="000000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rgbClr val="000000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rgbClr val="000000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rgbClr val="000000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rgbClr val="000000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rgbClr val="000000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rgbClr val="000000"/>
                </a:solidFill>
                <a:latin typeface="Arial" charset="0"/>
              </a:defRPr>
            </a:lvl1pPr>
          </a:lstStyle>
          <a:p>
            <a:fld id="{07099480-D11A-4789-80EE-022E820CF635}" type="datetime1">
              <a:rPr lang="nl-BE" smtClean="0"/>
              <a:pPr/>
              <a:t>27/06/2025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lang="en-US" dirty="0" smtClean="0">
                <a:solidFill>
                  <a:srgbClr val="000000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4246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rgbClr val="000000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rgbClr val="000000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rgbClr val="000000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rgbClr val="000000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rgbClr val="000000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rgbClr val="000000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>
          <p15:clr>
            <a:srgbClr val="F26B43"/>
          </p15:clr>
        </p15:guide>
        <p15:guide id="2" pos="7319">
          <p15:clr>
            <a:srgbClr val="F26B43"/>
          </p15:clr>
        </p15:guide>
        <p15:guide id="3" orient="horz" pos="3857">
          <p15:clr>
            <a:srgbClr val="F26B43"/>
          </p15:clr>
        </p15:guide>
        <p15:guide id="4" pos="3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vvas.raptis@jhuapl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avvasraptis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42B9-2C4A-434B-810C-97BD7591E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31143"/>
            <a:ext cx="9312965" cy="1650257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plasma sheet properties with in-situ observations and machine learning – Recent advancements and limitations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DD875-1502-9F4F-B75E-289A7CE319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903803"/>
            <a:ext cx="10780986" cy="1650257"/>
          </a:xfrm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Savvas Raptis</a:t>
            </a:r>
          </a:p>
          <a:p>
            <a:endParaRPr lang="en-US" sz="1600" baseline="30000" dirty="0">
              <a:solidFill>
                <a:srgbClr val="000000"/>
              </a:solidFill>
            </a:endParaRPr>
          </a:p>
          <a:p>
            <a:r>
              <a:rPr lang="en-US" sz="1600" dirty="0">
                <a:solidFill>
                  <a:srgbClr val="000000"/>
                </a:solidFill>
              </a:rPr>
              <a:t>APL/JHU, Laurel, MD, USA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A71CF-1C64-249F-6546-045575077414}"/>
              </a:ext>
            </a:extLst>
          </p:cNvPr>
          <p:cNvSpPr/>
          <p:nvPr/>
        </p:nvSpPr>
        <p:spPr>
          <a:xfrm>
            <a:off x="685800" y="5550097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ADF6A3-D175-9224-DF72-D7267B7D9BAB}"/>
              </a:ext>
            </a:extLst>
          </p:cNvPr>
          <p:cNvSpPr txBox="1"/>
          <p:nvPr/>
        </p:nvSpPr>
        <p:spPr>
          <a:xfrm>
            <a:off x="0" y="6542340"/>
            <a:ext cx="4695516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  <a:hlinkClick r:id="rId3"/>
              </a:rPr>
              <a:t>savvas.raptis@jhuapl.edu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/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hlinkClick r:id="rId4"/>
              </a:rPr>
              <a:t>https://savvasraptis.github.io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19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5400" y="47826"/>
            <a:ext cx="11041200" cy="488204"/>
          </a:xfrm>
        </p:spPr>
        <p:txBody>
          <a:bodyPr/>
          <a:lstStyle/>
          <a:p>
            <a:pPr algn="ctr"/>
            <a:r>
              <a:rPr lang="en-US" dirty="0"/>
              <a:t>Baseline empirical models for Ti and </a:t>
            </a:r>
            <a:r>
              <a:rPr lang="en-US" dirty="0" err="1"/>
              <a:t>Te</a:t>
            </a:r>
            <a:endParaRPr lang="sv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86F9F-6458-4D01-C29E-38B25A4B8369}"/>
              </a:ext>
            </a:extLst>
          </p:cNvPr>
          <p:cNvSpPr txBox="1"/>
          <p:nvPr/>
        </p:nvSpPr>
        <p:spPr>
          <a:xfrm>
            <a:off x="117793" y="5902913"/>
            <a:ext cx="2283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</a:rPr>
              <a:t>Tsyganenko</a:t>
            </a:r>
            <a:r>
              <a:rPr lang="en-US" sz="1400" dirty="0">
                <a:solidFill>
                  <a:srgbClr val="000000"/>
                </a:solidFill>
              </a:rPr>
              <a:t> &amp; Mukai 2003</a:t>
            </a:r>
          </a:p>
        </p:txBody>
      </p:sp>
      <p:pic>
        <p:nvPicPr>
          <p:cNvPr id="9" name="Picture 2" descr="Details are in the caption following the image">
            <a:extLst>
              <a:ext uri="{FF2B5EF4-FFF2-40B4-BE49-F238E27FC236}">
                <a16:creationId xmlns:a16="http://schemas.microsoft.com/office/drawing/2014/main" id="{F5F58A44-E538-175A-BF64-56E80D17B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3" y="767936"/>
            <a:ext cx="5117147" cy="513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Details are in the caption following the image">
            <a:extLst>
              <a:ext uri="{FF2B5EF4-FFF2-40B4-BE49-F238E27FC236}">
                <a16:creationId xmlns:a16="http://schemas.microsoft.com/office/drawing/2014/main" id="{AAE3DD46-E942-6012-B6D2-FCECAB25E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5"/>
          <a:stretch/>
        </p:blipFill>
        <p:spPr bwMode="auto">
          <a:xfrm>
            <a:off x="5463977" y="891466"/>
            <a:ext cx="6344344" cy="322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6BECC3-35FD-858A-C643-061ED2E9E2A8}"/>
              </a:ext>
            </a:extLst>
          </p:cNvPr>
          <p:cNvSpPr txBox="1"/>
          <p:nvPr/>
        </p:nvSpPr>
        <p:spPr>
          <a:xfrm>
            <a:off x="7934221" y="3931079"/>
            <a:ext cx="3568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Dubyagin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+ 2016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B19AC5-6479-AC08-0789-88AE35D23218}"/>
              </a:ext>
            </a:extLst>
          </p:cNvPr>
          <p:cNvSpPr txBox="1"/>
          <p:nvPr/>
        </p:nvSpPr>
        <p:spPr>
          <a:xfrm>
            <a:off x="5234940" y="4287086"/>
            <a:ext cx="7133088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u="sng" dirty="0">
                <a:solidFill>
                  <a:srgbClr val="000000"/>
                </a:solidFill>
              </a:rPr>
              <a:t>Why work on this?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</a:rPr>
              <a:t>Understand plasma sheet properties and how different populations get heated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</a:rPr>
              <a:t>Important quantity for global modeling to initialize distribution of particles in the inner magnetosphere 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A6638-9BE2-CA6C-9B80-D22A4F5B308F}"/>
              </a:ext>
            </a:extLst>
          </p:cNvPr>
          <p:cNvSpPr txBox="1"/>
          <p:nvPr/>
        </p:nvSpPr>
        <p:spPr>
          <a:xfrm>
            <a:off x="1206553" y="470946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Modelled with </a:t>
            </a:r>
            <a:r>
              <a:rPr lang="en-US" dirty="0" err="1">
                <a:solidFill>
                  <a:srgbClr val="000000"/>
                </a:solidFill>
              </a:rPr>
              <a:t>Geotail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1CA23-676F-B60B-6DE4-E258D8B8A9A2}"/>
              </a:ext>
            </a:extLst>
          </p:cNvPr>
          <p:cNvSpPr txBox="1"/>
          <p:nvPr/>
        </p:nvSpPr>
        <p:spPr>
          <a:xfrm>
            <a:off x="7606285" y="536030"/>
            <a:ext cx="252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Modelled with THEMIS</a:t>
            </a:r>
          </a:p>
        </p:txBody>
      </p:sp>
    </p:spTree>
    <p:extLst>
      <p:ext uri="{BB962C8B-B14F-4D97-AF65-F5344CB8AC3E}">
        <p14:creationId xmlns:p14="http://schemas.microsoft.com/office/powerpoint/2010/main" val="3439463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85658-765B-277D-BF33-82A541A8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2D41C2-A28E-6F2B-8930-C533A725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00" y="46165"/>
            <a:ext cx="11041200" cy="40151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Results shown 2 days ago in ML session</a:t>
            </a:r>
            <a:endParaRPr lang="sv-S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015B26-DA81-6939-9C38-58BB728BB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2327"/>
              </p:ext>
            </p:extLst>
          </p:nvPr>
        </p:nvGraphicFramePr>
        <p:xfrm>
          <a:off x="8659703" y="1640429"/>
          <a:ext cx="2552220" cy="3085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740">
                  <a:extLst>
                    <a:ext uri="{9D8B030D-6E8A-4147-A177-3AD203B41FA5}">
                      <a16:colId xmlns:a16="http://schemas.microsoft.com/office/drawing/2014/main" val="3722937019"/>
                    </a:ext>
                  </a:extLst>
                </a:gridCol>
                <a:gridCol w="850740">
                  <a:extLst>
                    <a:ext uri="{9D8B030D-6E8A-4147-A177-3AD203B41FA5}">
                      <a16:colId xmlns:a16="http://schemas.microsoft.com/office/drawing/2014/main" val="3074667537"/>
                    </a:ext>
                  </a:extLst>
                </a:gridCol>
                <a:gridCol w="850740">
                  <a:extLst>
                    <a:ext uri="{9D8B030D-6E8A-4147-A177-3AD203B41FA5}">
                      <a16:colId xmlns:a16="http://schemas.microsoft.com/office/drawing/2014/main" val="3684653763"/>
                    </a:ext>
                  </a:extLst>
                </a:gridCol>
              </a:tblGrid>
              <a:tr h="43518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NN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Linear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4545474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429499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1.8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3806786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2.5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918466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 (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cor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79905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CA1A7C0-E362-0F28-B160-CF1899B1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28" y="1286381"/>
            <a:ext cx="8284356" cy="3797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30399D-BB71-6704-9504-CB0F3AE6574D}"/>
              </a:ext>
            </a:extLst>
          </p:cNvPr>
          <p:cNvSpPr txBox="1"/>
          <p:nvPr/>
        </p:nvSpPr>
        <p:spPr>
          <a:xfrm>
            <a:off x="2387962" y="607479"/>
            <a:ext cx="7601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Trying to model Ti/</a:t>
            </a:r>
            <a:r>
              <a:rPr lang="en-US" dirty="0" err="1">
                <a:solidFill>
                  <a:srgbClr val="FF0000"/>
                </a:solidFill>
              </a:rPr>
              <a:t>Te</a:t>
            </a:r>
            <a:r>
              <a:rPr lang="en-US" dirty="0">
                <a:solidFill>
                  <a:srgbClr val="FF0000"/>
                </a:solidFill>
              </a:rPr>
              <a:t> in the </a:t>
            </a:r>
            <a:r>
              <a:rPr lang="en-US" dirty="0" err="1">
                <a:solidFill>
                  <a:srgbClr val="FF0000"/>
                </a:solidFill>
              </a:rPr>
              <a:t>plasmasheet</a:t>
            </a:r>
            <a:r>
              <a:rPr lang="en-US" dirty="0">
                <a:solidFill>
                  <a:srgbClr val="FF0000"/>
                </a:solidFill>
              </a:rPr>
              <a:t> (input Solar wind, Output MMS)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D1AD3D-8E65-78EB-0A3F-3188B3605D91}"/>
              </a:ext>
            </a:extLst>
          </p:cNvPr>
          <p:cNvSpPr txBox="1"/>
          <p:nvPr/>
        </p:nvSpPr>
        <p:spPr>
          <a:xfrm>
            <a:off x="994376" y="5713973"/>
            <a:ext cx="10337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TLDR</a:t>
            </a:r>
            <a:r>
              <a:rPr lang="en-US" dirty="0">
                <a:solidFill>
                  <a:srgbClr val="000000"/>
                </a:solidFill>
              </a:rPr>
              <a:t>: Analytical model bad, neural network good? Yes </a:t>
            </a:r>
            <a:r>
              <a:rPr lang="en-US" dirty="0" err="1">
                <a:solidFill>
                  <a:srgbClr val="000000"/>
                </a:solidFill>
              </a:rPr>
              <a:t>kinda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000000"/>
                </a:solidFill>
              </a:rPr>
              <a:t>Note</a:t>
            </a:r>
            <a:r>
              <a:rPr lang="en-US" dirty="0">
                <a:solidFill>
                  <a:srgbClr val="000000"/>
                </a:solidFill>
              </a:rPr>
              <a:t>: To be fair to the analytical models, they are not trained on similar radial distances or datasets</a:t>
            </a:r>
          </a:p>
        </p:txBody>
      </p:sp>
    </p:spTree>
    <p:extLst>
      <p:ext uri="{BB962C8B-B14F-4D97-AF65-F5344CB8AC3E}">
        <p14:creationId xmlns:p14="http://schemas.microsoft.com/office/powerpoint/2010/main" val="66367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5E08-852B-3C02-C63E-CB1B2A42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12"/>
            <a:ext cx="10515600" cy="64633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Modeling Temperature Ratios | 2D Maps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33625A7-4FA3-CE44-07C3-A06560E1A629}"/>
              </a:ext>
            </a:extLst>
          </p:cNvPr>
          <p:cNvGrpSpPr/>
          <p:nvPr/>
        </p:nvGrpSpPr>
        <p:grpSpPr>
          <a:xfrm>
            <a:off x="7123590" y="1418585"/>
            <a:ext cx="3993774" cy="4931752"/>
            <a:chOff x="0" y="1637032"/>
            <a:chExt cx="3993774" cy="493175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D8961AA-E23E-4EE0-AB5C-FEB514B3A8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9979"/>
            <a:stretch/>
          </p:blipFill>
          <p:spPr>
            <a:xfrm>
              <a:off x="0" y="1637032"/>
              <a:ext cx="1968678" cy="493175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469A591-2B62-18E3-A119-E7CFB5C092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1525"/>
            <a:stretch/>
          </p:blipFill>
          <p:spPr>
            <a:xfrm>
              <a:off x="2101152" y="1637032"/>
              <a:ext cx="1892622" cy="4931752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2FC6849-2A75-C26B-2E72-77676DD5EC46}"/>
              </a:ext>
            </a:extLst>
          </p:cNvPr>
          <p:cNvSpPr txBox="1"/>
          <p:nvPr/>
        </p:nvSpPr>
        <p:spPr>
          <a:xfrm>
            <a:off x="914206" y="624261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Neural Networks modeling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2653AA-FF62-4768-1BA5-C3C5BFB0B593}"/>
              </a:ext>
            </a:extLst>
          </p:cNvPr>
          <p:cNvSpPr txBox="1"/>
          <p:nvPr/>
        </p:nvSpPr>
        <p:spPr>
          <a:xfrm>
            <a:off x="7502681" y="6294193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Empirical modeling (TM03/DSGR16)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AC53894-FD30-1DD5-DD9A-BC4B86A54ECE}"/>
              </a:ext>
            </a:extLst>
          </p:cNvPr>
          <p:cNvSpPr/>
          <p:nvPr/>
        </p:nvSpPr>
        <p:spPr>
          <a:xfrm>
            <a:off x="715171" y="5481326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471AF47-4D24-A1FA-4553-C6B04B370221}"/>
              </a:ext>
            </a:extLst>
          </p:cNvPr>
          <p:cNvSpPr/>
          <p:nvPr/>
        </p:nvSpPr>
        <p:spPr>
          <a:xfrm>
            <a:off x="7502681" y="1652899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F4DE685-61F4-8C1F-DC81-2A7535F94678}"/>
              </a:ext>
            </a:extLst>
          </p:cNvPr>
          <p:cNvSpPr/>
          <p:nvPr/>
        </p:nvSpPr>
        <p:spPr>
          <a:xfrm>
            <a:off x="715172" y="1566881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B749F05-F7CA-F4AC-5308-3D9671AC1A14}"/>
              </a:ext>
            </a:extLst>
          </p:cNvPr>
          <p:cNvSpPr/>
          <p:nvPr/>
        </p:nvSpPr>
        <p:spPr>
          <a:xfrm>
            <a:off x="7520740" y="5577231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3A55CCC-36E2-5F83-25A5-3AD1966D87BE}"/>
              </a:ext>
            </a:extLst>
          </p:cNvPr>
          <p:cNvGrpSpPr/>
          <p:nvPr/>
        </p:nvGrpSpPr>
        <p:grpSpPr>
          <a:xfrm>
            <a:off x="318022" y="1366735"/>
            <a:ext cx="3978322" cy="4992366"/>
            <a:chOff x="318022" y="1376674"/>
            <a:chExt cx="3978322" cy="499236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3F7B7A2-FD43-9BD2-1539-200567DAAE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0268"/>
            <a:stretch/>
          </p:blipFill>
          <p:spPr>
            <a:xfrm>
              <a:off x="318022" y="1376674"/>
              <a:ext cx="1968678" cy="495061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4015ABB-4963-BD1C-235A-F97816C3EC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1070"/>
            <a:stretch/>
          </p:blipFill>
          <p:spPr>
            <a:xfrm>
              <a:off x="2360202" y="1399882"/>
              <a:ext cx="1936142" cy="4969158"/>
            </a:xfrm>
            <a:prstGeom prst="rect">
              <a:avLst/>
            </a:prstGeom>
          </p:spPr>
        </p:pic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1A4E8AC2-17D6-910D-E3F3-1A6513422D84}"/>
              </a:ext>
            </a:extLst>
          </p:cNvPr>
          <p:cNvSpPr/>
          <p:nvPr/>
        </p:nvSpPr>
        <p:spPr>
          <a:xfrm>
            <a:off x="697112" y="1615236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F4866E-0EA1-0FE5-2C1A-6015583D42FA}"/>
              </a:ext>
            </a:extLst>
          </p:cNvPr>
          <p:cNvSpPr/>
          <p:nvPr/>
        </p:nvSpPr>
        <p:spPr>
          <a:xfrm>
            <a:off x="715171" y="5539568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9DC3B-746A-96E8-1B39-BFA58374E252}"/>
              </a:ext>
            </a:extLst>
          </p:cNvPr>
          <p:cNvSpPr txBox="1"/>
          <p:nvPr/>
        </p:nvSpPr>
        <p:spPr>
          <a:xfrm>
            <a:off x="2286700" y="861156"/>
            <a:ext cx="757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Reproducing</a:t>
            </a:r>
            <a:r>
              <a:rPr lang="en-US" dirty="0">
                <a:solidFill>
                  <a:srgbClr val="000000"/>
                </a:solidFill>
              </a:rPr>
              <a:t>: Wang et al., 2009 with dusk Ti/</a:t>
            </a:r>
            <a:r>
              <a:rPr lang="en-US" dirty="0" err="1">
                <a:solidFill>
                  <a:srgbClr val="000000"/>
                </a:solidFill>
              </a:rPr>
              <a:t>Te</a:t>
            </a:r>
            <a:r>
              <a:rPr lang="en-US" dirty="0">
                <a:solidFill>
                  <a:srgbClr val="000000"/>
                </a:solidFill>
              </a:rPr>
              <a:t> much higher than dawn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4A40D-6063-2DD3-528A-9ED531BB602F}"/>
              </a:ext>
            </a:extLst>
          </p:cNvPr>
          <p:cNvSpPr txBox="1"/>
          <p:nvPr/>
        </p:nvSpPr>
        <p:spPr>
          <a:xfrm>
            <a:off x="4321222" y="3429000"/>
            <a:ext cx="2818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✅ No extreme values</a:t>
            </a:r>
          </a:p>
          <a:p>
            <a:r>
              <a:rPr lang="en-US" sz="1600" dirty="0">
                <a:solidFill>
                  <a:srgbClr val="000000"/>
                </a:solidFill>
              </a:rPr>
              <a:t>✅ Asymmetries are shown</a:t>
            </a:r>
          </a:p>
          <a:p>
            <a:r>
              <a:rPr lang="en-US" sz="1600" dirty="0">
                <a:solidFill>
                  <a:srgbClr val="000000"/>
                </a:solidFill>
              </a:rPr>
              <a:t>✅  Coherent physical picture</a:t>
            </a:r>
          </a:p>
        </p:txBody>
      </p:sp>
    </p:spTree>
    <p:extLst>
      <p:ext uri="{BB962C8B-B14F-4D97-AF65-F5344CB8AC3E}">
        <p14:creationId xmlns:p14="http://schemas.microsoft.com/office/powerpoint/2010/main" val="340969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0E5B-741C-5436-344E-816E81865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9C6982-C4D4-852D-F6AB-69074ADC9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14" y="-1"/>
            <a:ext cx="11196286" cy="6858001"/>
          </a:xfrm>
        </p:spPr>
        <p:txBody>
          <a:bodyPr anchor="ctr">
            <a:normAutofit/>
          </a:bodyPr>
          <a:lstStyle/>
          <a:p>
            <a:r>
              <a:rPr lang="en-US" sz="2800" b="1" dirty="0"/>
              <a:t>Data Preprocessing</a:t>
            </a:r>
            <a:endParaRPr lang="en-US" sz="2800" dirty="0"/>
          </a:p>
          <a:p>
            <a:r>
              <a:rPr lang="en-US" sz="2800" b="1" dirty="0"/>
              <a:t>Data Sparsity &amp; Extreme Events</a:t>
            </a:r>
            <a:endParaRPr lang="en-US" sz="2800" dirty="0"/>
          </a:p>
          <a:p>
            <a:r>
              <a:rPr lang="en-US" sz="2800" b="1" dirty="0"/>
              <a:t>Statistical Metrics &amp; Pitfalls</a:t>
            </a:r>
            <a:endParaRPr lang="en-US" sz="2800" dirty="0"/>
          </a:p>
          <a:p>
            <a:r>
              <a:rPr lang="en-US" sz="2800" b="1" dirty="0"/>
              <a:t>Modeling Challenges for Storms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451F6-86E7-8FE8-70A3-FC5E5CF70A00}"/>
              </a:ext>
            </a:extLst>
          </p:cNvPr>
          <p:cNvSpPr txBox="1"/>
          <p:nvPr/>
        </p:nvSpPr>
        <p:spPr>
          <a:xfrm>
            <a:off x="0" y="6356258"/>
            <a:ext cx="32143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My initial plan was to talk about all of them…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D30A2F-7BE3-EFDF-E0C9-322190985268}"/>
              </a:ext>
            </a:extLst>
          </p:cNvPr>
          <p:cNvSpPr txBox="1"/>
          <p:nvPr/>
        </p:nvSpPr>
        <p:spPr>
          <a:xfrm>
            <a:off x="4541729" y="665814"/>
            <a:ext cx="3353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But….there are many issues </a:t>
            </a:r>
            <a:r>
              <a:rPr lang="en-US" dirty="0">
                <a:solidFill>
                  <a:srgbClr val="000000"/>
                </a:solidFill>
                <a:sym typeface="Wingdings" pitchFamily="2" charset="2"/>
              </a:rPr>
              <a:t>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30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45E0-8A6C-3523-6C3A-31EA5A67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C19A0F-EA1E-BDEB-FD08-F0F1CEC4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6858001"/>
          </a:xfrm>
        </p:spPr>
        <p:txBody>
          <a:bodyPr anchor="ctr">
            <a:normAutofit/>
          </a:bodyPr>
          <a:lstStyle/>
          <a:p>
            <a:r>
              <a:rPr lang="en-US" sz="2800" b="1" dirty="0"/>
              <a:t>Data Preprocessing (Ti/</a:t>
            </a:r>
            <a:r>
              <a:rPr lang="en-US" sz="2800" b="1" dirty="0" err="1"/>
              <a:t>Te</a:t>
            </a:r>
            <a:r>
              <a:rPr lang="en-US" sz="2800" b="1" dirty="0"/>
              <a:t>)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rgbClr val="0005FF"/>
                </a:solidFill>
              </a:rPr>
              <a:t> Better moments can yield ~30% difference </a:t>
            </a:r>
            <a:r>
              <a:rPr lang="en-US" sz="2800" dirty="0"/>
              <a:t>(Q~4 rather than 5.5)</a:t>
            </a:r>
          </a:p>
          <a:p>
            <a:r>
              <a:rPr lang="en-US" sz="2800" b="1" dirty="0"/>
              <a:t>Data Sparsity &amp; Extreme Events (General)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rgbClr val="0005FF"/>
                </a:solidFill>
              </a:rPr>
              <a:t> Number of unique events and distribution of driving conditions is more insightful </a:t>
            </a:r>
            <a:r>
              <a:rPr lang="en-US" sz="2800" dirty="0"/>
              <a:t>than statistical metrics.</a:t>
            </a:r>
          </a:p>
          <a:p>
            <a:r>
              <a:rPr lang="en-US" sz="2800" b="1" dirty="0"/>
              <a:t>Statistical Metrics &amp; Pitfalls (Ti/</a:t>
            </a:r>
            <a:r>
              <a:rPr lang="en-US" sz="2800" b="1" dirty="0" err="1"/>
              <a:t>Te</a:t>
            </a:r>
            <a:r>
              <a:rPr lang="en-US" sz="2800" b="1" dirty="0"/>
              <a:t>)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rgbClr val="0005FF"/>
                </a:solidFill>
              </a:rPr>
              <a:t>Constant-value models (baseline) can outperform complex models.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 Use (adjusted) </a:t>
            </a:r>
            <a:r>
              <a:rPr lang="en-US" sz="2800" dirty="0">
                <a:solidFill>
                  <a:srgbClr val="0005FF"/>
                </a:solidFill>
              </a:rPr>
              <a:t>R² instead of correlation</a:t>
            </a:r>
            <a:r>
              <a:rPr lang="en-US" sz="2800" dirty="0"/>
              <a:t> for model evaluation.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rgbClr val="0005FF"/>
                </a:solidFill>
              </a:rPr>
              <a:t> Binning data can artificially increasing metrics</a:t>
            </a:r>
            <a:r>
              <a:rPr lang="en-US" sz="2800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rgbClr val="0005FF"/>
                </a:solidFill>
              </a:rPr>
              <a:t> Always compare to baseline models </a:t>
            </a:r>
            <a:r>
              <a:rPr lang="en-US" sz="2800" dirty="0"/>
              <a:t>(</a:t>
            </a:r>
            <a:r>
              <a:rPr lang="en-US" sz="2800" i="1" dirty="0"/>
              <a:t>linear</a:t>
            </a:r>
            <a:r>
              <a:rPr lang="en-US" sz="2800" dirty="0"/>
              <a:t> / </a:t>
            </a:r>
            <a:r>
              <a:rPr lang="en-US" sz="2800" i="1" dirty="0"/>
              <a:t>persistence</a:t>
            </a:r>
            <a:r>
              <a:rPr lang="en-US" sz="2800" dirty="0"/>
              <a:t> model)</a:t>
            </a:r>
          </a:p>
          <a:p>
            <a:r>
              <a:rPr lang="en-US" sz="2800" b="1" dirty="0"/>
              <a:t>Modeling Challenges for Storms (Ti/</a:t>
            </a:r>
            <a:r>
              <a:rPr lang="en-US" sz="2800" b="1" dirty="0" err="1"/>
              <a:t>Te</a:t>
            </a:r>
            <a:r>
              <a:rPr lang="en-US" sz="2800" b="1" dirty="0"/>
              <a:t>)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rgbClr val="FF3B3B"/>
                </a:solidFill>
              </a:rPr>
              <a:t> Storms are difficult to model due to sparse observations and limited information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5066018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5AF61-0591-EE55-C11D-59172EF7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3CA392-901D-244A-8AE5-47E9B491C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6858001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Data Preprocessing (Ti/</a:t>
            </a:r>
            <a:r>
              <a:rPr lang="en-US" sz="2800" b="1" dirty="0" err="1">
                <a:solidFill>
                  <a:schemeClr val="bg1">
                    <a:lumMod val="85000"/>
                  </a:schemeClr>
                </a:solidFill>
              </a:rPr>
              <a:t>Te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Better moments can yield ~30% difference (Q~4 rather than 5.5)</a:t>
            </a:r>
          </a:p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Data Sparsity &amp; Extreme Events (General)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Number of unique events and distribution of driving conditions is more insightful than statistical metrics.</a:t>
            </a:r>
          </a:p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Statistical Metrics &amp; Pitfalls (Ti/</a:t>
            </a:r>
            <a:r>
              <a:rPr lang="en-US" sz="2800" b="1" dirty="0" err="1">
                <a:solidFill>
                  <a:schemeClr val="bg1">
                    <a:lumMod val="85000"/>
                  </a:schemeClr>
                </a:solidFill>
              </a:rPr>
              <a:t>Te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Constant-value models (baseline) can outperform complex models.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Use (adjusted) R² instead of correlation for model evaluation.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Binning data can artificially increasing metrics.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Always compare to baseline models (</a:t>
            </a:r>
            <a:r>
              <a:rPr lang="en-US" sz="2800" i="1" dirty="0">
                <a:solidFill>
                  <a:schemeClr val="bg1">
                    <a:lumMod val="85000"/>
                  </a:schemeClr>
                </a:solidFill>
              </a:rPr>
              <a:t>linear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/ </a:t>
            </a:r>
            <a:r>
              <a:rPr lang="en-US" sz="2800" i="1" dirty="0">
                <a:solidFill>
                  <a:schemeClr val="bg1">
                    <a:lumMod val="85000"/>
                  </a:schemeClr>
                </a:solidFill>
              </a:rPr>
              <a:t>persistence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model)</a:t>
            </a:r>
          </a:p>
          <a:p>
            <a:r>
              <a:rPr lang="en-US" sz="2800" b="1" dirty="0"/>
              <a:t>Modeling Challenges for Storms (Ti/</a:t>
            </a:r>
            <a:r>
              <a:rPr lang="en-US" sz="2800" b="1" dirty="0" err="1"/>
              <a:t>Te</a:t>
            </a:r>
            <a:r>
              <a:rPr lang="en-US" sz="2800" b="1" dirty="0"/>
              <a:t>)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solidFill>
                  <a:srgbClr val="FF3B3B"/>
                </a:solidFill>
              </a:rPr>
              <a:t> Storms are difficult to model due to sparse observations and limited information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51764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A862E-D5D6-C7DF-081D-805DBCF9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4FC195-A2E4-599A-4585-6CF34AFC3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Can we really predict extreme events with data? Density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06560F-A76C-7FED-A8C8-8F2D37537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154" y="1048992"/>
            <a:ext cx="5221446" cy="4760016"/>
          </a:xfrm>
          <a:prstGeom prst="rect">
            <a:avLst/>
          </a:prstGeom>
        </p:spPr>
      </p:pic>
      <p:pic>
        <p:nvPicPr>
          <p:cNvPr id="8" name="density_modeling_storm_comparison_nov23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541389DF-51EA-7883-BC8B-A3F1D4A2C1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458" y="861036"/>
            <a:ext cx="5623925" cy="56239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6463F6-EFD9-32D0-E7A0-40C4E27EF453}"/>
              </a:ext>
            </a:extLst>
          </p:cNvPr>
          <p:cNvSpPr txBox="1"/>
          <p:nvPr/>
        </p:nvSpPr>
        <p:spPr>
          <a:xfrm>
            <a:off x="7557405" y="5730350"/>
            <a:ext cx="2896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000000"/>
                </a:solidFill>
              </a:rPr>
              <a:t>MAE (&gt;40% improvement)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PRIME-PS: 0.7 [1/cc]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TM03: 1.22 [1/cc]</a:t>
            </a:r>
          </a:p>
        </p:txBody>
      </p:sp>
    </p:spTree>
    <p:extLst>
      <p:ext uri="{BB962C8B-B14F-4D97-AF65-F5344CB8AC3E}">
        <p14:creationId xmlns:p14="http://schemas.microsoft.com/office/powerpoint/2010/main" val="169109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57F9-E871-49C9-09C3-2E1620E1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646FC4-9625-D73F-2135-D822D3C5B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importance of “Rare Events”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3B4FF-7976-E21D-A330-22B4A05E14DF}"/>
              </a:ext>
            </a:extLst>
          </p:cNvPr>
          <p:cNvSpPr txBox="1"/>
          <p:nvPr/>
        </p:nvSpPr>
        <p:spPr>
          <a:xfrm>
            <a:off x="7897502" y="5731929"/>
            <a:ext cx="2896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000000"/>
                </a:solidFill>
              </a:rPr>
              <a:t>MAE (&gt;40% improvement)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ML model: 0.7 [1/cc]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TM03: 1.22 [1/cc]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633F9-9A8C-8D51-E9D3-327232158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11" y="701150"/>
            <a:ext cx="5500687" cy="5029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A3093B-7DC4-9D76-A872-BBEC7C5CA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503" y="701150"/>
            <a:ext cx="5516724" cy="5029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D2CCBE-0BB9-5DC2-7A0F-6545557B7076}"/>
              </a:ext>
            </a:extLst>
          </p:cNvPr>
          <p:cNvSpPr txBox="1"/>
          <p:nvPr/>
        </p:nvSpPr>
        <p:spPr>
          <a:xfrm>
            <a:off x="0" y="6347482"/>
            <a:ext cx="6235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</a:rPr>
              <a:t>Note</a:t>
            </a:r>
            <a:r>
              <a:rPr lang="en-US" sz="1400" dirty="0">
                <a:solidFill>
                  <a:srgbClr val="000000"/>
                </a:solidFill>
              </a:rPr>
              <a:t>: values &lt;1 cm⁻³, are transitions to the lobe/BL (will filter them out).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FFA7FC-83ED-9BF8-4E29-7E98677DA5A4}"/>
              </a:ext>
            </a:extLst>
          </p:cNvPr>
          <p:cNvCxnSpPr/>
          <p:nvPr/>
        </p:nvCxnSpPr>
        <p:spPr>
          <a:xfrm flipV="1">
            <a:off x="2049137" y="4373696"/>
            <a:ext cx="1410159" cy="18508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103114-0A4D-8EDA-6458-0B3D7A195C68}"/>
              </a:ext>
            </a:extLst>
          </p:cNvPr>
          <p:cNvCxnSpPr/>
          <p:nvPr/>
        </p:nvCxnSpPr>
        <p:spPr>
          <a:xfrm flipV="1">
            <a:off x="2776249" y="4435172"/>
            <a:ext cx="1410159" cy="18508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E8FDD5-C8C3-CCEF-9ACF-28EEC186F777}"/>
              </a:ext>
            </a:extLst>
          </p:cNvPr>
          <p:cNvCxnSpPr/>
          <p:nvPr/>
        </p:nvCxnSpPr>
        <p:spPr>
          <a:xfrm flipV="1">
            <a:off x="3536410" y="4496648"/>
            <a:ext cx="1410159" cy="18508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49CFEA1-A6FE-2294-C549-4C0DB6D21A6A}"/>
              </a:ext>
            </a:extLst>
          </p:cNvPr>
          <p:cNvSpPr/>
          <p:nvPr/>
        </p:nvSpPr>
        <p:spPr>
          <a:xfrm>
            <a:off x="7667740" y="3018622"/>
            <a:ext cx="627961" cy="7821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53ED0F-2B1D-E275-5B1F-A8FB71FC0EC7}"/>
              </a:ext>
            </a:extLst>
          </p:cNvPr>
          <p:cNvSpPr/>
          <p:nvPr/>
        </p:nvSpPr>
        <p:spPr>
          <a:xfrm>
            <a:off x="9056706" y="2477522"/>
            <a:ext cx="627961" cy="7821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72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379DA7-B040-53CF-CC2E-FA56A5FE1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Mean Model</a:t>
            </a:r>
            <a:r>
              <a:rPr lang="en-US" dirty="0"/>
              <a:t>: MAE = 1.67</a:t>
            </a:r>
          </a:p>
          <a:p>
            <a:pPr marL="0" indent="0">
              <a:buNone/>
            </a:pPr>
            <a:r>
              <a:rPr lang="en-US" b="1" dirty="0"/>
              <a:t>Formula Model </a:t>
            </a:r>
            <a:r>
              <a:rPr lang="en-US" dirty="0"/>
              <a:t>(a polynomial fit from another period): MAE = 3.21</a:t>
            </a:r>
          </a:p>
          <a:p>
            <a:pPr marL="0" indent="0">
              <a:buNone/>
            </a:pPr>
            <a:r>
              <a:rPr lang="en-US" b="1" dirty="0"/>
              <a:t>Formula vs Mean</a:t>
            </a:r>
            <a:r>
              <a:rPr lang="en-US" dirty="0"/>
              <a:t>: MAE = -92.64%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56278E-D5E8-1001-92A1-30EFB10B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is Ti/</a:t>
            </a:r>
            <a:r>
              <a:rPr lang="en-US" dirty="0" err="1"/>
              <a:t>Te</a:t>
            </a:r>
            <a:r>
              <a:rPr lang="en-US" dirty="0"/>
              <a:t> doing there?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DAE62F-0910-B8CC-68A7-A67C4FBA3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86" y="2607276"/>
            <a:ext cx="7324008" cy="34379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6774A2-3283-C12E-51FE-0672DA65E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924" y="2507890"/>
            <a:ext cx="4505958" cy="3919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2A3627-2648-6D25-5ECC-7607800BBD58}"/>
              </a:ext>
            </a:extLst>
          </p:cNvPr>
          <p:cNvSpPr txBox="1"/>
          <p:nvPr/>
        </p:nvSpPr>
        <p:spPr>
          <a:xfrm>
            <a:off x="1540907" y="6233731"/>
            <a:ext cx="911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Key Message</a:t>
            </a:r>
            <a:r>
              <a:rPr lang="en-US" dirty="0">
                <a:solidFill>
                  <a:srgbClr val="000000"/>
                </a:solidFill>
              </a:rPr>
              <a:t>: Modeling (in-situ or from SW) struggle during extreme events like storms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C60C7-7E86-A28E-8118-84B3E2E44C37}"/>
              </a:ext>
            </a:extLst>
          </p:cNvPr>
          <p:cNvSpPr txBox="1"/>
          <p:nvPr/>
        </p:nvSpPr>
        <p:spPr>
          <a:xfrm>
            <a:off x="7901551" y="2314888"/>
            <a:ext cx="4363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rgbClr val="FF3B3B"/>
                </a:solidFill>
                <a:latin typeface="Nadeem" pitchFamily="2" charset="-78"/>
                <a:cs typeface="Nadeem" pitchFamily="2" charset="-78"/>
              </a:rPr>
              <a:t>Old model shown, new is actually better, there is still hope</a:t>
            </a:r>
          </a:p>
        </p:txBody>
      </p:sp>
    </p:spTree>
    <p:extLst>
      <p:ext uri="{BB962C8B-B14F-4D97-AF65-F5344CB8AC3E}">
        <p14:creationId xmlns:p14="http://schemas.microsoft.com/office/powerpoint/2010/main" val="290476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9EB7F-3372-1519-8FA2-9D18EA1F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8A1182-287C-904F-100A-75EED050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Ending on a relatively positive note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FE41D-3345-64ED-755E-6DC9D1E5C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u="sng" dirty="0"/>
              <a:t>What We Achieved: Better Performance (“shrug”)</a:t>
            </a:r>
            <a:endParaRPr lang="en-US" dirty="0"/>
          </a:p>
          <a:p>
            <a:pPr>
              <a:buFont typeface="System Font Regular"/>
              <a:buChar char="✅"/>
            </a:pPr>
            <a:r>
              <a:rPr lang="en-US" dirty="0"/>
              <a:t> By incorporating </a:t>
            </a:r>
            <a:r>
              <a:rPr lang="en-US" dirty="0">
                <a:solidFill>
                  <a:srgbClr val="0005FF"/>
                </a:solidFill>
              </a:rPr>
              <a:t>time history and more diverse input, our ML models improved plasma sheet density predictions by up to +40% for quiet times and for a case study storm.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u="sng" dirty="0"/>
              <a:t>What We Learned: The Limits of Data-Driven models</a:t>
            </a:r>
            <a:endParaRPr lang="en-US" u="sng" dirty="0"/>
          </a:p>
          <a:p>
            <a:pPr>
              <a:buFont typeface="System Font Regular"/>
              <a:buChar char="💡"/>
            </a:pPr>
            <a:r>
              <a:rPr lang="en-US" dirty="0"/>
              <a:t> Data-driven </a:t>
            </a:r>
            <a:r>
              <a:rPr lang="en-US" b="1" dirty="0"/>
              <a:t>ML models </a:t>
            </a:r>
            <a:r>
              <a:rPr lang="en-US" dirty="0"/>
              <a:t>are powerful but </a:t>
            </a:r>
            <a:r>
              <a:rPr lang="en-US" b="1" dirty="0"/>
              <a:t>can be matched by simpler baseline models </a:t>
            </a:r>
            <a:r>
              <a:rPr lang="en-US" dirty="0"/>
              <a:t>if the input data is not sufficient to describe the system</a:t>
            </a:r>
          </a:p>
          <a:p>
            <a:pPr>
              <a:buFont typeface="System Font Regular"/>
              <a:buChar char="💡"/>
            </a:pPr>
            <a:r>
              <a:rPr lang="en-US" dirty="0"/>
              <a:t> The "Rare Event" Problem: </a:t>
            </a:r>
            <a:r>
              <a:rPr lang="en-US" b="1" dirty="0"/>
              <a:t>Adding more "rare" events can help, but isn't a silver bullet</a:t>
            </a:r>
            <a:r>
              <a:rPr lang="en-US" dirty="0"/>
              <a:t>. We need a better data strategy.</a:t>
            </a:r>
          </a:p>
          <a:p>
            <a:pPr marL="0" indent="0" algn="ctr">
              <a:buNone/>
            </a:pPr>
            <a:endParaRPr lang="en-US" b="1" u="sng" dirty="0"/>
          </a:p>
          <a:p>
            <a:pPr marL="0" indent="0" algn="ctr">
              <a:buNone/>
            </a:pPr>
            <a:r>
              <a:rPr lang="en-US" b="1" u="sng" dirty="0"/>
              <a:t>Path Forward</a:t>
            </a:r>
          </a:p>
          <a:p>
            <a:pPr>
              <a:buFont typeface="System Font Regular"/>
              <a:buChar char="🔭"/>
            </a:pPr>
            <a:r>
              <a:rPr lang="en-US" dirty="0"/>
              <a:t> Adopt </a:t>
            </a:r>
            <a:r>
              <a:rPr lang="en-US" b="1" dirty="0"/>
              <a:t>rigorous validation and transparent assessment </a:t>
            </a:r>
            <a:r>
              <a:rPr lang="en-US" dirty="0"/>
              <a:t>as a core practice. </a:t>
            </a:r>
            <a:r>
              <a:rPr lang="en-US" b="1" dirty="0"/>
              <a:t>e.g., a model with R² of  0.054 had a r of 0.7. </a:t>
            </a:r>
          </a:p>
          <a:p>
            <a:pPr>
              <a:buFont typeface="System Font Regular"/>
              <a:buChar char="🔭"/>
            </a:pPr>
            <a:r>
              <a:rPr lang="en-US" b="1" dirty="0"/>
              <a:t> </a:t>
            </a:r>
            <a:r>
              <a:rPr lang="en-US" dirty="0"/>
              <a:t>Build Better methodologies: </a:t>
            </a:r>
            <a:r>
              <a:rPr lang="en-US" b="1" dirty="0"/>
              <a:t>Develop hybrid simulation-observation methods</a:t>
            </a:r>
            <a:r>
              <a:rPr lang="en-US" dirty="0"/>
              <a:t> to create </a:t>
            </a:r>
            <a:r>
              <a:rPr lang="en-US" b="1" dirty="0"/>
              <a:t>representative datasets that include more extreme events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624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6DABFE-D4A9-8A1C-DE7E-66A8ABB08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7078" y="812775"/>
            <a:ext cx="3776870" cy="5790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When</a:t>
            </a:r>
            <a:r>
              <a:rPr lang="en-US" dirty="0"/>
              <a:t>: 13–17 October 2025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Where</a:t>
            </a:r>
            <a:r>
              <a:rPr lang="en-US" dirty="0"/>
              <a:t>: JHU/APL, Laurel, MD (primarily in-person)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Remote access</a:t>
            </a:r>
            <a:r>
              <a:rPr lang="en-US" dirty="0"/>
              <a:t>: Zoom participation available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Format</a:t>
            </a:r>
            <a:r>
              <a:rPr lang="en-US" dirty="0"/>
              <a:t>: ~20 minute talks plus short Q&amp;A. Emphasis on interaction and collaborative problem-solving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See the LMAG2025 site for science themes; topic suggestions and ideas welcome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Audience</a:t>
            </a:r>
            <a:r>
              <a:rPr lang="en-US" dirty="0"/>
              <a:t>: Heliophysics and geospace researchers, data scientists and computer scientists experts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No registration fee</a:t>
            </a:r>
          </a:p>
          <a:p>
            <a:pPr marL="0" indent="0">
              <a:buNone/>
            </a:pPr>
            <a:r>
              <a:rPr lang="en-US" b="1" dirty="0"/>
              <a:t>RSVP today!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C5C7ED-A8FB-1037-92C1-8646C0BB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Advertisement: LMAG25 (13 – 17 OCT 2025 JHU/APL)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FCED8-4B97-AD84-53C1-78997B5FE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1" y="812775"/>
            <a:ext cx="7772400" cy="40661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4D7CF8-FDEF-B985-0C4F-3DBCE6BE6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070" y="4902639"/>
            <a:ext cx="1659222" cy="165922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74E852-620E-C89F-352D-89BE236C9B51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3215292" y="5732250"/>
            <a:ext cx="4881786" cy="639674"/>
          </a:xfrm>
          <a:prstGeom prst="straightConnector1">
            <a:avLst/>
          </a:prstGeom>
          <a:ln w="12700">
            <a:solidFill>
              <a:srgbClr val="FF3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7874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2B428C8B21A141B5825E5B86F557DB" ma:contentTypeVersion="15" ma:contentTypeDescription="Skapa ett nytt dokument." ma:contentTypeScope="" ma:versionID="975073b9cecf71b6bc8c14a7c33e31db">
  <xsd:schema xmlns:xsd="http://www.w3.org/2001/XMLSchema" xmlns:xs="http://www.w3.org/2001/XMLSchema" xmlns:p="http://schemas.microsoft.com/office/2006/metadata/properties" xmlns:ns3="977cb6ed-b1a4-473b-8ba2-0f8e0a4901ff" xmlns:ns4="6707e3d7-8225-4321-a0ab-c333d198a7fc" targetNamespace="http://schemas.microsoft.com/office/2006/metadata/properties" ma:root="true" ma:fieldsID="0cdfbe7b44d734305c4ef3f71cda5902" ns3:_="" ns4:_="">
    <xsd:import namespace="977cb6ed-b1a4-473b-8ba2-0f8e0a4901ff"/>
    <xsd:import namespace="6707e3d7-8225-4321-a0ab-c333d198a7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7cb6ed-b1a4-473b-8ba2-0f8e0a4901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07e3d7-8225-4321-a0ab-c333d198a7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Delar tips,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B3048F-AB18-4F93-A27A-DBB845175962}">
  <ds:schemaRefs>
    <ds:schemaRef ds:uri="http://www.w3.org/XML/1998/namespace"/>
    <ds:schemaRef ds:uri="977cb6ed-b1a4-473b-8ba2-0f8e0a4901ff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6707e3d7-8225-4321-a0ab-c333d198a7fc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ECBB746-F6CA-42D5-AFDD-F49C58B427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8B54EE-C366-449D-9972-DF83693BEC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7cb6ed-b1a4-473b-8ba2-0f8e0a4901ff"/>
    <ds:schemaRef ds:uri="6707e3d7-8225-4321-a0ab-c333d198a7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0</TotalTime>
  <Words>906</Words>
  <Application>Microsoft Macintosh PowerPoint</Application>
  <PresentationFormat>Widescreen</PresentationFormat>
  <Paragraphs>111</Paragraphs>
  <Slides>12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Nadeem</vt:lpstr>
      <vt:lpstr>System Font Regular</vt:lpstr>
      <vt:lpstr>Wingdings</vt:lpstr>
      <vt:lpstr>KU Leuven</vt:lpstr>
      <vt:lpstr>1_KU Leuven</vt:lpstr>
      <vt:lpstr>Evaluating plasma sheet properties with in-situ observations and machine learning – Recent advancements and limitations</vt:lpstr>
      <vt:lpstr>Baseline empirical models for Ti and Te</vt:lpstr>
      <vt:lpstr>Results shown 2 days ago in ML session</vt:lpstr>
      <vt:lpstr>Modeling Temperature Ratios | 2D Maps</vt:lpstr>
      <vt:lpstr>PowerPoint Presentation</vt:lpstr>
      <vt:lpstr>PowerPoint Presentation</vt:lpstr>
      <vt:lpstr>PowerPoint Presentation</vt:lpstr>
      <vt:lpstr>Can we really predict extreme events with data? Density</vt:lpstr>
      <vt:lpstr>The importance of “Rare Events”</vt:lpstr>
      <vt:lpstr>How is Ti/Te doing there?</vt:lpstr>
      <vt:lpstr>Ending on a relatively positive note</vt:lpstr>
      <vt:lpstr>Advertisement: LMAG25 (13 – 17 OCT 2025 JHU/APL)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2017-09-13T11:47:32Z</dcterms:created>
  <dcterms:modified xsi:type="dcterms:W3CDTF">2025-06-27T15:18:57Z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0x0101004F2B428C8B21A141B5825E5B86F557DB</vt:lpwstr>
  </property>
</Properties>
</file>